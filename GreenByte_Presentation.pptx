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79" r:id="rId6"/>
    <p:sldId id="280" r:id="rId7"/>
    <p:sldId id="261" r:id="rId8"/>
    <p:sldId id="262" r:id="rId9"/>
    <p:sldId id="285" r:id="rId10"/>
    <p:sldId id="265" r:id="rId11"/>
    <p:sldId id="288" r:id="rId12"/>
    <p:sldId id="268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D48452-6D1C-40A1-A868-54CD991D0B35}" v="3" dt="2025-10-10T07:32:49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780" autoAdjust="0"/>
    <p:restoredTop sz="93447" autoAdjust="0"/>
  </p:normalViewPr>
  <p:slideViewPr>
    <p:cSldViewPr snapToGrid="0">
      <p:cViewPr varScale="1">
        <p:scale>
          <a:sx n="109" d="100"/>
          <a:sy n="109" d="100"/>
        </p:scale>
        <p:origin x="379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vagya Srivastava" userId="10bd0fd6edfbf61a" providerId="LiveId" clId="{DE67B10D-A0A7-4928-80EC-2AC9C1BFAB17}"/>
    <pc:docChg chg="addSld delSld modSld">
      <pc:chgData name="Sarvagya Srivastava" userId="10bd0fd6edfbf61a" providerId="LiveId" clId="{DE67B10D-A0A7-4928-80EC-2AC9C1BFAB17}" dt="2025-10-10T07:56:55.291" v="15" actId="2696"/>
      <pc:docMkLst>
        <pc:docMk/>
      </pc:docMkLst>
      <pc:sldChg chg="addSp modSp new del mod">
        <pc:chgData name="Sarvagya Srivastava" userId="10bd0fd6edfbf61a" providerId="LiveId" clId="{DE67B10D-A0A7-4928-80EC-2AC9C1BFAB17}" dt="2025-10-10T07:56:55.291" v="15" actId="2696"/>
        <pc:sldMkLst>
          <pc:docMk/>
          <pc:sldMk cId="404781578" sldId="289"/>
        </pc:sldMkLst>
        <pc:spChg chg="mod">
          <ac:chgData name="Sarvagya Srivastava" userId="10bd0fd6edfbf61a" providerId="LiveId" clId="{DE67B10D-A0A7-4928-80EC-2AC9C1BFAB17}" dt="2025-10-10T07:35:20.046" v="14" actId="207"/>
          <ac:spMkLst>
            <pc:docMk/>
            <pc:sldMk cId="404781578" sldId="289"/>
            <ac:spMk id="2" creationId="{C60DD3B5-FFE0-DCC0-E563-403A1B927742}"/>
          </ac:spMkLst>
        </pc:spChg>
        <pc:spChg chg="add mod">
          <ac:chgData name="Sarvagya Srivastava" userId="10bd0fd6edfbf61a" providerId="LiveId" clId="{DE67B10D-A0A7-4928-80EC-2AC9C1BFAB17}" dt="2025-10-10T07:32:00.658" v="13"/>
          <ac:spMkLst>
            <pc:docMk/>
            <pc:sldMk cId="404781578" sldId="289"/>
            <ac:spMk id="4" creationId="{54F03556-56CC-8186-554A-5284D92A077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983100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234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28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7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6"/>
          <p:cNvPicPr preferRelativeResize="0"/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12110" r="12110"/>
          <a:stretch/>
        </p:blipFill>
        <p:spPr>
          <a:xfrm flipH="1">
            <a:off x="2687192" y="0"/>
            <a:ext cx="692940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6"/>
          <p:cNvSpPr/>
          <p:nvPr/>
        </p:nvSpPr>
        <p:spPr>
          <a:xfrm rot="5400000">
            <a:off x="2558543" y="-1476792"/>
            <a:ext cx="2358166" cy="7495953"/>
          </a:xfrm>
          <a:prstGeom prst="rect">
            <a:avLst/>
          </a:prstGeom>
          <a:solidFill>
            <a:schemeClr val="accent1">
              <a:alpha val="861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ctrTitle"/>
          </p:nvPr>
        </p:nvSpPr>
        <p:spPr>
          <a:xfrm>
            <a:off x="0" y="1165671"/>
            <a:ext cx="7485603" cy="2157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 dirty="0">
                <a:solidFill>
                  <a:schemeClr val="lt1"/>
                </a:solidFill>
                <a:latin typeface="Montserrat SemiBold" pitchFamily="2" charset="0"/>
              </a:rPr>
              <a:t>UCS503</a:t>
            </a:r>
            <a:endParaRPr sz="4400" dirty="0">
              <a:solidFill>
                <a:schemeClr val="lt1"/>
              </a:solidFill>
              <a:latin typeface="Montserrat SemiBold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>
                <a:solidFill>
                  <a:schemeClr val="lt1"/>
                </a:solidFill>
                <a:latin typeface="Montserrat SemiBold" pitchFamily="2" charset="0"/>
                <a:sym typeface="Livvic"/>
              </a:rPr>
              <a:t>UNICONNECT</a:t>
            </a:r>
          </a:p>
        </p:txBody>
      </p:sp>
      <p:sp>
        <p:nvSpPr>
          <p:cNvPr id="129" name="Google Shape;129;p26"/>
          <p:cNvSpPr txBox="1">
            <a:spLocks noGrp="1"/>
          </p:cNvSpPr>
          <p:nvPr>
            <p:ph type="subTitle" idx="1"/>
          </p:nvPr>
        </p:nvSpPr>
        <p:spPr>
          <a:xfrm>
            <a:off x="166867" y="3854246"/>
            <a:ext cx="4031507" cy="9519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Sarvagya Srivastva(102303589)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Piyush Raj(102303618)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Ganga Singh(102313021)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Introduction</a:t>
            </a:r>
            <a:endParaRPr lang="en-IN" dirty="0">
              <a:solidFill>
                <a:schemeClr val="tx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644761" y="922667"/>
            <a:ext cx="8396774" cy="2125639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20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Montserra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Montserrat" pitchFamily="2" charset="0"/>
            </a:endParaRP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F7DF5A3-548A-2425-9FDA-160B22BD9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85" y="1534894"/>
            <a:ext cx="805375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college campuses, student societies organize numerous events across the semester.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communication is fragmented — event details are shared through emails, WhatsApp groups, and posters, leading to missed opportunities and low participation.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Societies lack an integrated system to manage events, track engagement, and analyze participation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Uniconnect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aims to solve this by providing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web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event management, student engagement, and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982013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7" y="181352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Project Scope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195943" y="890968"/>
            <a:ext cx="8499021" cy="4258717"/>
          </a:xfrm>
          <a:prstGeom prst="rect">
            <a:avLst/>
          </a:prstGeom>
        </p:spPr>
        <p:txBody>
          <a:bodyPr>
            <a:normAutofit fontScale="4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6600" dirty="0"/>
              <a:t>The project focuses on building a </a:t>
            </a:r>
            <a:r>
              <a:rPr lang="en-US" sz="6600" b="1" dirty="0"/>
              <a:t>college-exclusive web application</a:t>
            </a:r>
            <a:r>
              <a:rPr lang="en-US" sz="6600" dirty="0"/>
              <a:t> to streamline the entire event lifecycle — from creation and registration to analytics.</a:t>
            </a:r>
          </a:p>
          <a:p>
            <a:r>
              <a:rPr lang="en-US" sz="6600" dirty="0"/>
              <a:t>Designed for </a:t>
            </a:r>
            <a:r>
              <a:rPr lang="en-US" sz="6600" b="1" dirty="0"/>
              <a:t>students, societies, and administrators</a:t>
            </a:r>
            <a:r>
              <a:rPr lang="en-US" sz="6600" dirty="0"/>
              <a:t> within a single institution, with scalability to multi-campus networks in the future.</a:t>
            </a:r>
          </a:p>
          <a:p>
            <a:r>
              <a:rPr lang="en-US" sz="6600" dirty="0"/>
              <a:t>Provides </a:t>
            </a:r>
            <a:r>
              <a:rPr lang="en-US" sz="6600" b="1" dirty="0"/>
              <a:t>real-time visibility</a:t>
            </a:r>
            <a:r>
              <a:rPr lang="en-US" sz="6600" dirty="0"/>
              <a:t> into upcoming events and participation metrics.</a:t>
            </a:r>
          </a:p>
          <a:p>
            <a:r>
              <a:rPr lang="en-US" sz="6600" dirty="0"/>
              <a:t>Ensures </a:t>
            </a:r>
            <a:r>
              <a:rPr lang="en-US" sz="6600" b="1" dirty="0"/>
              <a:t>secure access</a:t>
            </a:r>
            <a:r>
              <a:rPr lang="en-US" sz="6600" dirty="0"/>
              <a:t> through OAuth-based college email verification.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6400" b="1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Montserrat" pitchFamily="2" charset="0"/>
            </a:endParaRP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5565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Proposed Functions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/>
              <a:t>Event Creation &amp; Management:</a:t>
            </a:r>
            <a:r>
              <a:rPr lang="en-US" sz="2000" dirty="0"/>
              <a:t> Societies can create and update event listings, add details, and manage registrations.</a:t>
            </a:r>
          </a:p>
          <a:p>
            <a:r>
              <a:rPr lang="en-US" sz="2000" b="1" dirty="0"/>
              <a:t>Student Dashboard:</a:t>
            </a:r>
            <a:r>
              <a:rPr lang="en-US" sz="2000" dirty="0"/>
              <a:t> Students can browse upcoming events, register, and receive notifications.</a:t>
            </a:r>
          </a:p>
          <a:p>
            <a:r>
              <a:rPr lang="en-US" sz="2000" b="1" dirty="0"/>
              <a:t>Analytics Dashboard:</a:t>
            </a:r>
            <a:r>
              <a:rPr lang="en-US" sz="2000" dirty="0"/>
              <a:t> Societies and admins can monitor participation, trends, and engagement rates.</a:t>
            </a:r>
          </a:p>
          <a:p>
            <a:r>
              <a:rPr lang="en-US" sz="2000" b="1" dirty="0"/>
              <a:t>User Authentication:</a:t>
            </a:r>
            <a:r>
              <a:rPr lang="en-US" sz="2000" dirty="0"/>
              <a:t> College-only login through OAuth ensures authenticity and restricted access.</a:t>
            </a:r>
          </a:p>
          <a:p>
            <a:r>
              <a:rPr lang="en-US" sz="2000" b="1" dirty="0"/>
              <a:t>Future Enhancements:</a:t>
            </a:r>
            <a:r>
              <a:rPr lang="en-US" sz="2000" dirty="0"/>
              <a:t> Smart event recommendations, schedule conflict detection, QR-based attendance, and auto certificate generation, Room booking , Sponsor Visibility.</a:t>
            </a:r>
          </a:p>
          <a:p>
            <a:r>
              <a:rPr lang="en-US" sz="2000" b="1" dirty="0">
                <a:latin typeface="Montserrat" pitchFamily="2" charset="0"/>
              </a:rPr>
              <a:t> 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8531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B65C5-BD77-BAA2-B71D-9AFC90B15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3ED8B-56F2-498B-8BD1-EE39B4FC2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Proposed Functions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699824-4B1B-E782-828C-3D3152886C7C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7528D0-0F4F-6CE7-FB37-D9FAB4023B7D}"/>
              </a:ext>
            </a:extLst>
          </p:cNvPr>
          <p:cNvSpPr txBox="1">
            <a:spLocks/>
          </p:cNvSpPr>
          <p:nvPr/>
        </p:nvSpPr>
        <p:spPr>
          <a:xfrm>
            <a:off x="167152" y="859497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itchFamily="2" charset="0"/>
              </a:rPr>
              <a:t>User Needs: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20F5657D-B176-76A9-7016-2DDDAA16EFED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BF33F2FC-DF4B-E284-C152-6BCA369B9716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53B5F5D-8BB1-F317-1F88-732186867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152" y="1414026"/>
            <a:ext cx="809761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single reliable platform to view, register, and track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personalized updates and reminders for upcoming activities.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Societies / Clubs: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Simplify event posting and registration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insights on attendance and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Faculty Coordinators / Admins: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Supervise campus events and monitor society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scheduling overlaps and resource conflicts.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93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97E6-1E04-DA81-9A91-E94D38B02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6B87-3E88-C71E-771D-0E376D16C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Proposed Functions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77B1D4-4ACD-1F7D-3C02-585DD04ACB9B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BADF75-CC2D-606B-9EDC-49030736B1BC}"/>
              </a:ext>
            </a:extLst>
          </p:cNvPr>
          <p:cNvSpPr txBox="1">
            <a:spLocks/>
          </p:cNvSpPr>
          <p:nvPr/>
        </p:nvSpPr>
        <p:spPr>
          <a:xfrm>
            <a:off x="187741" y="884783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itchFamily="2" charset="0"/>
              </a:rPr>
              <a:t>Visualization: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CD594780-5EFF-5673-5B27-2F2ABA21C6DA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014E703D-DF7F-2384-2C32-3ADE028B5443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03E7A-0D74-CA6C-5215-525B22A443B6}"/>
              </a:ext>
            </a:extLst>
          </p:cNvPr>
          <p:cNvSpPr txBox="1"/>
          <p:nvPr/>
        </p:nvSpPr>
        <p:spPr>
          <a:xfrm>
            <a:off x="3678701" y="956719"/>
            <a:ext cx="1266093" cy="30777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IN" dirty="0"/>
              <a:t>Web App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B8423-8C3B-6DF1-A00B-8D7236066B7D}"/>
              </a:ext>
            </a:extLst>
          </p:cNvPr>
          <p:cNvSpPr txBox="1"/>
          <p:nvPr/>
        </p:nvSpPr>
        <p:spPr>
          <a:xfrm>
            <a:off x="2384474" y="1533378"/>
            <a:ext cx="1364566" cy="307770"/>
          </a:xfrm>
          <a:prstGeom prst="rect">
            <a:avLst/>
          </a:prstGeom>
          <a:solidFill>
            <a:schemeClr val="tx2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IN" dirty="0"/>
              <a:t>Student Login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13FC4-D541-93A4-A567-8D3EC4A8F9EC}"/>
              </a:ext>
            </a:extLst>
          </p:cNvPr>
          <p:cNvSpPr txBox="1"/>
          <p:nvPr/>
        </p:nvSpPr>
        <p:spPr>
          <a:xfrm>
            <a:off x="4944794" y="1533378"/>
            <a:ext cx="1610751" cy="307777"/>
          </a:xfrm>
          <a:prstGeom prst="rect">
            <a:avLst/>
          </a:prstGeom>
          <a:solidFill>
            <a:schemeClr val="tx2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IN" dirty="0"/>
              <a:t>Society Login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90A40-6D1E-DCE5-C749-7EE63F7C0F29}"/>
              </a:ext>
            </a:extLst>
          </p:cNvPr>
          <p:cNvSpPr txBox="1"/>
          <p:nvPr/>
        </p:nvSpPr>
        <p:spPr>
          <a:xfrm>
            <a:off x="2384474" y="2264898"/>
            <a:ext cx="1364566" cy="306852"/>
          </a:xfrm>
          <a:prstGeom prst="rect">
            <a:avLst/>
          </a:prstGeom>
          <a:solidFill>
            <a:schemeClr val="tx2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IN" dirty="0"/>
              <a:t>View Events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0D464D-D027-DA16-69AC-BC23C38B9791}"/>
              </a:ext>
            </a:extLst>
          </p:cNvPr>
          <p:cNvSpPr txBox="1"/>
          <p:nvPr/>
        </p:nvSpPr>
        <p:spPr>
          <a:xfrm>
            <a:off x="2384474" y="2982351"/>
            <a:ext cx="1364566" cy="306852"/>
          </a:xfrm>
          <a:prstGeom prst="rect">
            <a:avLst/>
          </a:prstGeom>
          <a:solidFill>
            <a:schemeClr val="tx2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IN" dirty="0"/>
              <a:t>Register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CFD130-A5ED-7BCA-7676-DF342F752AE7}"/>
              </a:ext>
            </a:extLst>
          </p:cNvPr>
          <p:cNvSpPr txBox="1"/>
          <p:nvPr/>
        </p:nvSpPr>
        <p:spPr>
          <a:xfrm>
            <a:off x="2482948" y="3811026"/>
            <a:ext cx="1167618" cy="306852"/>
          </a:xfrm>
          <a:prstGeom prst="rect">
            <a:avLst/>
          </a:prstGeom>
          <a:solidFill>
            <a:schemeClr val="tx2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IN" dirty="0"/>
              <a:t>Review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2FA895-C06D-5EF3-1614-F5D1DDEB8D65}"/>
              </a:ext>
            </a:extLst>
          </p:cNvPr>
          <p:cNvSpPr txBox="1"/>
          <p:nvPr/>
        </p:nvSpPr>
        <p:spPr>
          <a:xfrm>
            <a:off x="4969412" y="2301129"/>
            <a:ext cx="1561514" cy="306852"/>
          </a:xfrm>
          <a:prstGeom prst="rect">
            <a:avLst/>
          </a:prstGeom>
          <a:solidFill>
            <a:schemeClr val="tx2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IN" dirty="0"/>
              <a:t>Post events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BF1456-AEF5-75D2-D0F6-B924E9CC53D1}"/>
              </a:ext>
            </a:extLst>
          </p:cNvPr>
          <p:cNvSpPr txBox="1"/>
          <p:nvPr/>
        </p:nvSpPr>
        <p:spPr>
          <a:xfrm>
            <a:off x="4944794" y="2982351"/>
            <a:ext cx="1610751" cy="306852"/>
          </a:xfrm>
          <a:prstGeom prst="rect">
            <a:avLst/>
          </a:prstGeom>
          <a:solidFill>
            <a:schemeClr val="tx2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IN" dirty="0"/>
              <a:t>View Analytics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B5B699-07BB-A5A1-9570-B2137FEBA2C7}"/>
              </a:ext>
            </a:extLst>
          </p:cNvPr>
          <p:cNvSpPr txBox="1"/>
          <p:nvPr/>
        </p:nvSpPr>
        <p:spPr>
          <a:xfrm>
            <a:off x="5064369" y="3663573"/>
            <a:ext cx="1371600" cy="306852"/>
          </a:xfrm>
          <a:prstGeom prst="rect">
            <a:avLst/>
          </a:prstGeom>
          <a:solidFill>
            <a:schemeClr val="tx2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IN" dirty="0"/>
              <a:t>Give Updates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43C01A9-600D-D64E-FEDD-C4676475DA2E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4311748" y="1264496"/>
            <a:ext cx="682283" cy="268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03AC1A7-8401-8115-FC0E-20482FAE1A4D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3749040" y="1264496"/>
            <a:ext cx="562708" cy="268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B6CFF68-4C5C-E550-9A41-0E50318126B4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3066757" y="1841148"/>
            <a:ext cx="0" cy="423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827F7A-3D89-0694-F74E-D8D38300CFA6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3066757" y="2571750"/>
            <a:ext cx="0" cy="410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52AF11-2BCC-2900-2AE0-ED1BB0C66111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3066757" y="3289203"/>
            <a:ext cx="0" cy="521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B242335-6C5E-ADE3-3BB4-D058D90AD458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flipH="1">
            <a:off x="5750169" y="1841155"/>
            <a:ext cx="1" cy="459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EF555DA-0913-C787-9A33-FE4E974994FB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5750169" y="2607981"/>
            <a:ext cx="1" cy="374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20B3993-A3C6-BD17-5A2C-76B215AE3EBD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5750169" y="3289203"/>
            <a:ext cx="1" cy="374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445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Target Users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207264" y="597409"/>
            <a:ext cx="8833103" cy="3906132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5" algn="ctr"/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lvl="5" algn="ctr"/>
            <a:r>
              <a:rPr lang="en-US" sz="2400" b="1" dirty="0">
                <a:latin typeface="Arial" pitchFamily="34" charset="0"/>
                <a:cs typeface="Arial" pitchFamily="34" charset="0"/>
              </a:rPr>
              <a:t>     </a:t>
            </a:r>
          </a:p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 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988C24-597F-0DF6-6EE9-4ED4D81939FF}"/>
              </a:ext>
            </a:extLst>
          </p:cNvPr>
          <p:cNvSpPr txBox="1"/>
          <p:nvPr/>
        </p:nvSpPr>
        <p:spPr>
          <a:xfrm>
            <a:off x="357200" y="940707"/>
            <a:ext cx="839841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Students:</a:t>
            </a:r>
            <a:br>
              <a:rPr lang="en-US" sz="1600" dirty="0"/>
            </a:br>
            <a:r>
              <a:rPr lang="en-US" sz="1600" dirty="0"/>
              <a:t>Tech-savvy individuals who want a </a:t>
            </a:r>
            <a:r>
              <a:rPr lang="en-US" sz="1600" b="1" dirty="0"/>
              <a:t>simple and reliable way to discover and register for college events</a:t>
            </a:r>
            <a:r>
              <a:rPr lang="en-US" sz="1600" dirty="0"/>
              <a:t>. They need a platform that keeps them informed about upcoming activities, provides event reminders, and allows easy access to their registration history and certificates.</a:t>
            </a:r>
          </a:p>
          <a:p>
            <a:pPr>
              <a:buNone/>
            </a:pPr>
            <a:r>
              <a:rPr lang="en-US" sz="1600" b="1" dirty="0"/>
              <a:t>Society Members / Organizers:</a:t>
            </a:r>
            <a:br>
              <a:rPr lang="en-US" sz="1600" dirty="0"/>
            </a:br>
            <a:r>
              <a:rPr lang="en-US" sz="1600" dirty="0"/>
              <a:t>Time-constrained students managing multiple responsibilities who require a </a:t>
            </a:r>
            <a:r>
              <a:rPr lang="en-US" sz="1600" b="1" dirty="0"/>
              <a:t>streamlined dashboard</a:t>
            </a:r>
            <a:r>
              <a:rPr lang="en-US" sz="1600" dirty="0"/>
              <a:t> to create, update, and track event registrations. They need features like analytics dashboards, communication tools, and approval workflows to efficiently manage participation and logistics.</a:t>
            </a:r>
          </a:p>
          <a:p>
            <a:pPr>
              <a:buNone/>
            </a:pPr>
            <a:r>
              <a:rPr lang="en-US" sz="1600" b="1" dirty="0"/>
              <a:t>Faculty Coordinators / Administrators:</a:t>
            </a:r>
            <a:br>
              <a:rPr lang="en-US" sz="1600" dirty="0"/>
            </a:br>
            <a:r>
              <a:rPr lang="en-US" sz="1600" dirty="0"/>
              <a:t>Users with moderate technical expertise who need a </a:t>
            </a:r>
            <a:r>
              <a:rPr lang="en-US" sz="1600" b="1" dirty="0"/>
              <a:t>centralized system</a:t>
            </a:r>
            <a:r>
              <a:rPr lang="en-US" sz="1600" dirty="0"/>
              <a:t> to </a:t>
            </a:r>
            <a:r>
              <a:rPr lang="en-US" sz="1600" b="1" dirty="0"/>
              <a:t>oversee all campus events</a:t>
            </a:r>
            <a:r>
              <a:rPr lang="en-US" sz="1600" dirty="0"/>
              <a:t>, prevent scheduling conflicts, and monitor society performance. They require simplified workflows for event approvals, attendance tracking, and institutional reporting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2730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just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                       System Features    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115824" y="981456"/>
            <a:ext cx="8979407" cy="4084319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/>
              <a:t>Core Features (Current Version):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Secure college-based login (OAuth).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Event creation and registration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Real-time analytics dashboards for societies.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QR-based attendance tracking.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Planned Future Features: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AI-driven personalized event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Conflict detection for overlapping event schedules.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Automatic certificate generation post-event.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Candara" pitchFamily="34" charset="0"/>
            </a:endParaRP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7292;p66"/>
          <p:cNvGrpSpPr/>
          <p:nvPr/>
        </p:nvGrpSpPr>
        <p:grpSpPr>
          <a:xfrm>
            <a:off x="5571356" y="325369"/>
            <a:ext cx="699201" cy="523399"/>
            <a:chOff x="5626763" y="2013829"/>
            <a:chExt cx="351722" cy="274788"/>
          </a:xfrm>
        </p:grpSpPr>
        <p:sp>
          <p:nvSpPr>
            <p:cNvPr id="9" name="Google Shape;7293;p66"/>
            <p:cNvSpPr/>
            <p:nvPr/>
          </p:nvSpPr>
          <p:spPr>
            <a:xfrm>
              <a:off x="5626763" y="2013829"/>
              <a:ext cx="351722" cy="274788"/>
            </a:xfrm>
            <a:custGeom>
              <a:avLst/>
              <a:gdLst/>
              <a:ahLst/>
              <a:cxnLst/>
              <a:rect l="l" t="t" r="r" b="b"/>
              <a:pathLst>
                <a:path w="11050" h="8633" extrusionOk="0">
                  <a:moveTo>
                    <a:pt x="10657" y="345"/>
                  </a:moveTo>
                  <a:lnTo>
                    <a:pt x="10681" y="714"/>
                  </a:lnTo>
                  <a:lnTo>
                    <a:pt x="9395" y="714"/>
                  </a:lnTo>
                  <a:cubicBezTo>
                    <a:pt x="9312" y="714"/>
                    <a:pt x="9216" y="786"/>
                    <a:pt x="9216" y="893"/>
                  </a:cubicBezTo>
                  <a:cubicBezTo>
                    <a:pt x="9216" y="1000"/>
                    <a:pt x="9288" y="1072"/>
                    <a:pt x="9395" y="1072"/>
                  </a:cubicBezTo>
                  <a:lnTo>
                    <a:pt x="10383" y="1072"/>
                  </a:lnTo>
                  <a:lnTo>
                    <a:pt x="10383" y="6191"/>
                  </a:lnTo>
                  <a:lnTo>
                    <a:pt x="4466" y="6191"/>
                  </a:lnTo>
                  <a:lnTo>
                    <a:pt x="4466" y="6025"/>
                  </a:lnTo>
                  <a:cubicBezTo>
                    <a:pt x="4466" y="5929"/>
                    <a:pt x="4394" y="5846"/>
                    <a:pt x="4287" y="5846"/>
                  </a:cubicBezTo>
                  <a:lnTo>
                    <a:pt x="4001" y="5846"/>
                  </a:lnTo>
                  <a:cubicBezTo>
                    <a:pt x="3978" y="5739"/>
                    <a:pt x="3930" y="5644"/>
                    <a:pt x="3871" y="5536"/>
                  </a:cubicBezTo>
                  <a:lnTo>
                    <a:pt x="4085" y="5322"/>
                  </a:lnTo>
                  <a:cubicBezTo>
                    <a:pt x="4156" y="5251"/>
                    <a:pt x="4156" y="5144"/>
                    <a:pt x="4085" y="5072"/>
                  </a:cubicBezTo>
                  <a:lnTo>
                    <a:pt x="3549" y="4536"/>
                  </a:lnTo>
                  <a:cubicBezTo>
                    <a:pt x="3513" y="4512"/>
                    <a:pt x="3478" y="4489"/>
                    <a:pt x="3430" y="4489"/>
                  </a:cubicBezTo>
                  <a:cubicBezTo>
                    <a:pt x="3382" y="4489"/>
                    <a:pt x="3335" y="4512"/>
                    <a:pt x="3311" y="4536"/>
                  </a:cubicBezTo>
                  <a:lnTo>
                    <a:pt x="3097" y="4739"/>
                  </a:lnTo>
                  <a:cubicBezTo>
                    <a:pt x="2989" y="4679"/>
                    <a:pt x="2894" y="4643"/>
                    <a:pt x="2787" y="4608"/>
                  </a:cubicBezTo>
                  <a:lnTo>
                    <a:pt x="2787" y="4334"/>
                  </a:lnTo>
                  <a:cubicBezTo>
                    <a:pt x="2787" y="4239"/>
                    <a:pt x="2716" y="4155"/>
                    <a:pt x="2608" y="4155"/>
                  </a:cubicBezTo>
                  <a:lnTo>
                    <a:pt x="2180" y="4155"/>
                  </a:lnTo>
                  <a:lnTo>
                    <a:pt x="2180" y="1060"/>
                  </a:lnTo>
                  <a:lnTo>
                    <a:pt x="8788" y="1060"/>
                  </a:lnTo>
                  <a:cubicBezTo>
                    <a:pt x="8871" y="1060"/>
                    <a:pt x="8966" y="976"/>
                    <a:pt x="8966" y="881"/>
                  </a:cubicBezTo>
                  <a:cubicBezTo>
                    <a:pt x="8966" y="786"/>
                    <a:pt x="8895" y="702"/>
                    <a:pt x="8788" y="702"/>
                  </a:cubicBezTo>
                  <a:lnTo>
                    <a:pt x="1894" y="702"/>
                  </a:lnTo>
                  <a:lnTo>
                    <a:pt x="1894" y="345"/>
                  </a:lnTo>
                  <a:close/>
                  <a:moveTo>
                    <a:pt x="10681" y="6537"/>
                  </a:moveTo>
                  <a:lnTo>
                    <a:pt x="10681" y="6870"/>
                  </a:lnTo>
                  <a:lnTo>
                    <a:pt x="4430" y="6870"/>
                  </a:lnTo>
                  <a:cubicBezTo>
                    <a:pt x="4454" y="6846"/>
                    <a:pt x="4466" y="6798"/>
                    <a:pt x="4466" y="6751"/>
                  </a:cubicBezTo>
                  <a:lnTo>
                    <a:pt x="4466" y="6560"/>
                  </a:lnTo>
                  <a:lnTo>
                    <a:pt x="10562" y="6560"/>
                  </a:lnTo>
                  <a:cubicBezTo>
                    <a:pt x="10598" y="6560"/>
                    <a:pt x="10633" y="6548"/>
                    <a:pt x="10657" y="6537"/>
                  </a:cubicBezTo>
                  <a:close/>
                  <a:moveTo>
                    <a:pt x="2477" y="4524"/>
                  </a:moveTo>
                  <a:lnTo>
                    <a:pt x="2477" y="4763"/>
                  </a:lnTo>
                  <a:cubicBezTo>
                    <a:pt x="2477" y="4834"/>
                    <a:pt x="2537" y="4905"/>
                    <a:pt x="2608" y="4929"/>
                  </a:cubicBezTo>
                  <a:cubicBezTo>
                    <a:pt x="2775" y="4965"/>
                    <a:pt x="2942" y="5024"/>
                    <a:pt x="3073" y="5120"/>
                  </a:cubicBezTo>
                  <a:cubicBezTo>
                    <a:pt x="3099" y="5137"/>
                    <a:pt x="3128" y="5145"/>
                    <a:pt x="3157" y="5145"/>
                  </a:cubicBezTo>
                  <a:cubicBezTo>
                    <a:pt x="3206" y="5145"/>
                    <a:pt x="3253" y="5122"/>
                    <a:pt x="3275" y="5084"/>
                  </a:cubicBezTo>
                  <a:lnTo>
                    <a:pt x="3454" y="4905"/>
                  </a:lnTo>
                  <a:lnTo>
                    <a:pt x="3740" y="5191"/>
                  </a:lnTo>
                  <a:lnTo>
                    <a:pt x="3561" y="5370"/>
                  </a:lnTo>
                  <a:cubicBezTo>
                    <a:pt x="3501" y="5429"/>
                    <a:pt x="3490" y="5525"/>
                    <a:pt x="3537" y="5584"/>
                  </a:cubicBezTo>
                  <a:cubicBezTo>
                    <a:pt x="3620" y="5727"/>
                    <a:pt x="3680" y="5882"/>
                    <a:pt x="3728" y="6036"/>
                  </a:cubicBezTo>
                  <a:cubicBezTo>
                    <a:pt x="3740" y="6120"/>
                    <a:pt x="3811" y="6179"/>
                    <a:pt x="3894" y="6179"/>
                  </a:cubicBezTo>
                  <a:lnTo>
                    <a:pt x="4132" y="6179"/>
                  </a:lnTo>
                  <a:lnTo>
                    <a:pt x="4132" y="6572"/>
                  </a:lnTo>
                  <a:lnTo>
                    <a:pt x="3894" y="6572"/>
                  </a:lnTo>
                  <a:cubicBezTo>
                    <a:pt x="3811" y="6572"/>
                    <a:pt x="3740" y="6632"/>
                    <a:pt x="3728" y="6715"/>
                  </a:cubicBezTo>
                  <a:cubicBezTo>
                    <a:pt x="3680" y="6870"/>
                    <a:pt x="3620" y="7037"/>
                    <a:pt x="3537" y="7168"/>
                  </a:cubicBezTo>
                  <a:cubicBezTo>
                    <a:pt x="3490" y="7251"/>
                    <a:pt x="3501" y="7334"/>
                    <a:pt x="3561" y="7382"/>
                  </a:cubicBezTo>
                  <a:lnTo>
                    <a:pt x="3740" y="7560"/>
                  </a:lnTo>
                  <a:lnTo>
                    <a:pt x="3454" y="7834"/>
                  </a:lnTo>
                  <a:lnTo>
                    <a:pt x="3275" y="7656"/>
                  </a:lnTo>
                  <a:cubicBezTo>
                    <a:pt x="3238" y="7626"/>
                    <a:pt x="3193" y="7606"/>
                    <a:pt x="3149" y="7606"/>
                  </a:cubicBezTo>
                  <a:cubicBezTo>
                    <a:pt x="3122" y="7606"/>
                    <a:pt x="3096" y="7614"/>
                    <a:pt x="3073" y="7632"/>
                  </a:cubicBezTo>
                  <a:cubicBezTo>
                    <a:pt x="2918" y="7727"/>
                    <a:pt x="2775" y="7787"/>
                    <a:pt x="2608" y="7822"/>
                  </a:cubicBezTo>
                  <a:cubicBezTo>
                    <a:pt x="2537" y="7846"/>
                    <a:pt x="2477" y="7918"/>
                    <a:pt x="2477" y="7989"/>
                  </a:cubicBezTo>
                  <a:lnTo>
                    <a:pt x="2477" y="8227"/>
                  </a:lnTo>
                  <a:lnTo>
                    <a:pt x="2073" y="8227"/>
                  </a:lnTo>
                  <a:lnTo>
                    <a:pt x="2073" y="7989"/>
                  </a:lnTo>
                  <a:cubicBezTo>
                    <a:pt x="2073" y="7918"/>
                    <a:pt x="2013" y="7846"/>
                    <a:pt x="1942" y="7822"/>
                  </a:cubicBezTo>
                  <a:cubicBezTo>
                    <a:pt x="1775" y="7787"/>
                    <a:pt x="1608" y="7727"/>
                    <a:pt x="1477" y="7632"/>
                  </a:cubicBezTo>
                  <a:cubicBezTo>
                    <a:pt x="1450" y="7614"/>
                    <a:pt x="1419" y="7606"/>
                    <a:pt x="1390" y="7606"/>
                  </a:cubicBezTo>
                  <a:cubicBezTo>
                    <a:pt x="1342" y="7606"/>
                    <a:pt x="1297" y="7626"/>
                    <a:pt x="1275" y="7656"/>
                  </a:cubicBezTo>
                  <a:lnTo>
                    <a:pt x="1096" y="7834"/>
                  </a:lnTo>
                  <a:lnTo>
                    <a:pt x="811" y="7560"/>
                  </a:lnTo>
                  <a:lnTo>
                    <a:pt x="989" y="7382"/>
                  </a:lnTo>
                  <a:cubicBezTo>
                    <a:pt x="1049" y="7322"/>
                    <a:pt x="1061" y="7227"/>
                    <a:pt x="1013" y="7168"/>
                  </a:cubicBezTo>
                  <a:cubicBezTo>
                    <a:pt x="930" y="7025"/>
                    <a:pt x="870" y="6870"/>
                    <a:pt x="823" y="6715"/>
                  </a:cubicBezTo>
                  <a:cubicBezTo>
                    <a:pt x="811" y="6632"/>
                    <a:pt x="739" y="6572"/>
                    <a:pt x="656" y="6572"/>
                  </a:cubicBezTo>
                  <a:lnTo>
                    <a:pt x="418" y="6572"/>
                  </a:lnTo>
                  <a:lnTo>
                    <a:pt x="418" y="6179"/>
                  </a:lnTo>
                  <a:lnTo>
                    <a:pt x="656" y="6179"/>
                  </a:lnTo>
                  <a:cubicBezTo>
                    <a:pt x="739" y="6179"/>
                    <a:pt x="811" y="6120"/>
                    <a:pt x="823" y="6036"/>
                  </a:cubicBezTo>
                  <a:cubicBezTo>
                    <a:pt x="870" y="5882"/>
                    <a:pt x="930" y="5715"/>
                    <a:pt x="1013" y="5584"/>
                  </a:cubicBezTo>
                  <a:cubicBezTo>
                    <a:pt x="1061" y="5501"/>
                    <a:pt x="1049" y="5417"/>
                    <a:pt x="989" y="5370"/>
                  </a:cubicBezTo>
                  <a:lnTo>
                    <a:pt x="811" y="5191"/>
                  </a:lnTo>
                  <a:lnTo>
                    <a:pt x="1096" y="4905"/>
                  </a:lnTo>
                  <a:lnTo>
                    <a:pt x="1275" y="5084"/>
                  </a:lnTo>
                  <a:cubicBezTo>
                    <a:pt x="1313" y="5122"/>
                    <a:pt x="1360" y="5145"/>
                    <a:pt x="1405" y="5145"/>
                  </a:cubicBezTo>
                  <a:cubicBezTo>
                    <a:pt x="1430" y="5145"/>
                    <a:pt x="1456" y="5137"/>
                    <a:pt x="1477" y="5120"/>
                  </a:cubicBezTo>
                  <a:cubicBezTo>
                    <a:pt x="1632" y="5024"/>
                    <a:pt x="1775" y="4965"/>
                    <a:pt x="1942" y="4929"/>
                  </a:cubicBezTo>
                  <a:cubicBezTo>
                    <a:pt x="2013" y="4905"/>
                    <a:pt x="2073" y="4834"/>
                    <a:pt x="2073" y="4763"/>
                  </a:cubicBezTo>
                  <a:lnTo>
                    <a:pt x="2073" y="4524"/>
                  </a:lnTo>
                  <a:close/>
                  <a:moveTo>
                    <a:pt x="1715" y="0"/>
                  </a:moveTo>
                  <a:cubicBezTo>
                    <a:pt x="1632" y="0"/>
                    <a:pt x="1537" y="71"/>
                    <a:pt x="1537" y="179"/>
                  </a:cubicBezTo>
                  <a:lnTo>
                    <a:pt x="1537" y="881"/>
                  </a:lnTo>
                  <a:cubicBezTo>
                    <a:pt x="1537" y="964"/>
                    <a:pt x="1608" y="1060"/>
                    <a:pt x="1715" y="1060"/>
                  </a:cubicBezTo>
                  <a:lnTo>
                    <a:pt x="1835" y="1060"/>
                  </a:lnTo>
                  <a:lnTo>
                    <a:pt x="1835" y="4155"/>
                  </a:lnTo>
                  <a:cubicBezTo>
                    <a:pt x="1751" y="4167"/>
                    <a:pt x="1692" y="4239"/>
                    <a:pt x="1692" y="4310"/>
                  </a:cubicBezTo>
                  <a:lnTo>
                    <a:pt x="1692" y="4596"/>
                  </a:lnTo>
                  <a:cubicBezTo>
                    <a:pt x="1585" y="4632"/>
                    <a:pt x="1477" y="4667"/>
                    <a:pt x="1370" y="4727"/>
                  </a:cubicBezTo>
                  <a:lnTo>
                    <a:pt x="1168" y="4524"/>
                  </a:lnTo>
                  <a:cubicBezTo>
                    <a:pt x="1132" y="4489"/>
                    <a:pt x="1096" y="4477"/>
                    <a:pt x="1049" y="4477"/>
                  </a:cubicBezTo>
                  <a:cubicBezTo>
                    <a:pt x="1001" y="4477"/>
                    <a:pt x="953" y="4489"/>
                    <a:pt x="930" y="4524"/>
                  </a:cubicBezTo>
                  <a:lnTo>
                    <a:pt x="394" y="5060"/>
                  </a:lnTo>
                  <a:cubicBezTo>
                    <a:pt x="322" y="5132"/>
                    <a:pt x="322" y="5239"/>
                    <a:pt x="394" y="5310"/>
                  </a:cubicBezTo>
                  <a:lnTo>
                    <a:pt x="596" y="5525"/>
                  </a:lnTo>
                  <a:cubicBezTo>
                    <a:pt x="537" y="5620"/>
                    <a:pt x="501" y="5727"/>
                    <a:pt x="465" y="5834"/>
                  </a:cubicBezTo>
                  <a:lnTo>
                    <a:pt x="180" y="5834"/>
                  </a:lnTo>
                  <a:cubicBezTo>
                    <a:pt x="96" y="5834"/>
                    <a:pt x="1" y="5906"/>
                    <a:pt x="1" y="6013"/>
                  </a:cubicBezTo>
                  <a:lnTo>
                    <a:pt x="1" y="6751"/>
                  </a:lnTo>
                  <a:cubicBezTo>
                    <a:pt x="1" y="6846"/>
                    <a:pt x="84" y="6929"/>
                    <a:pt x="180" y="6929"/>
                  </a:cubicBezTo>
                  <a:lnTo>
                    <a:pt x="465" y="6929"/>
                  </a:lnTo>
                  <a:cubicBezTo>
                    <a:pt x="501" y="7037"/>
                    <a:pt x="537" y="7144"/>
                    <a:pt x="596" y="7251"/>
                  </a:cubicBezTo>
                  <a:lnTo>
                    <a:pt x="394" y="7453"/>
                  </a:lnTo>
                  <a:cubicBezTo>
                    <a:pt x="322" y="7525"/>
                    <a:pt x="322" y="7632"/>
                    <a:pt x="394" y="7703"/>
                  </a:cubicBezTo>
                  <a:lnTo>
                    <a:pt x="930" y="8239"/>
                  </a:lnTo>
                  <a:cubicBezTo>
                    <a:pt x="965" y="8281"/>
                    <a:pt x="1010" y="8302"/>
                    <a:pt x="1055" y="8302"/>
                  </a:cubicBezTo>
                  <a:cubicBezTo>
                    <a:pt x="1099" y="8302"/>
                    <a:pt x="1144" y="8281"/>
                    <a:pt x="1180" y="8239"/>
                  </a:cubicBezTo>
                  <a:lnTo>
                    <a:pt x="1394" y="8037"/>
                  </a:lnTo>
                  <a:cubicBezTo>
                    <a:pt x="1489" y="8096"/>
                    <a:pt x="1596" y="8144"/>
                    <a:pt x="1704" y="8168"/>
                  </a:cubicBezTo>
                  <a:lnTo>
                    <a:pt x="1704" y="8453"/>
                  </a:lnTo>
                  <a:cubicBezTo>
                    <a:pt x="1704" y="8537"/>
                    <a:pt x="1775" y="8632"/>
                    <a:pt x="1882" y="8632"/>
                  </a:cubicBezTo>
                  <a:lnTo>
                    <a:pt x="2620" y="8632"/>
                  </a:lnTo>
                  <a:cubicBezTo>
                    <a:pt x="2716" y="8632"/>
                    <a:pt x="2799" y="8549"/>
                    <a:pt x="2799" y="8453"/>
                  </a:cubicBezTo>
                  <a:lnTo>
                    <a:pt x="2799" y="8168"/>
                  </a:lnTo>
                  <a:cubicBezTo>
                    <a:pt x="2906" y="8144"/>
                    <a:pt x="3013" y="8096"/>
                    <a:pt x="3120" y="8037"/>
                  </a:cubicBezTo>
                  <a:lnTo>
                    <a:pt x="3323" y="8239"/>
                  </a:lnTo>
                  <a:cubicBezTo>
                    <a:pt x="3359" y="8281"/>
                    <a:pt x="3403" y="8302"/>
                    <a:pt x="3448" y="8302"/>
                  </a:cubicBezTo>
                  <a:cubicBezTo>
                    <a:pt x="3492" y="8302"/>
                    <a:pt x="3537" y="8281"/>
                    <a:pt x="3573" y="8239"/>
                  </a:cubicBezTo>
                  <a:lnTo>
                    <a:pt x="4109" y="7703"/>
                  </a:lnTo>
                  <a:cubicBezTo>
                    <a:pt x="4192" y="7632"/>
                    <a:pt x="4192" y="7525"/>
                    <a:pt x="4109" y="7453"/>
                  </a:cubicBezTo>
                  <a:lnTo>
                    <a:pt x="3906" y="7251"/>
                  </a:lnTo>
                  <a:cubicBezTo>
                    <a:pt x="3906" y="7227"/>
                    <a:pt x="3918" y="7227"/>
                    <a:pt x="3918" y="7215"/>
                  </a:cubicBezTo>
                  <a:lnTo>
                    <a:pt x="10871" y="7215"/>
                  </a:lnTo>
                  <a:cubicBezTo>
                    <a:pt x="10955" y="7215"/>
                    <a:pt x="11050" y="7144"/>
                    <a:pt x="11050" y="7037"/>
                  </a:cubicBezTo>
                  <a:lnTo>
                    <a:pt x="11050" y="6358"/>
                  </a:lnTo>
                  <a:cubicBezTo>
                    <a:pt x="11050" y="6263"/>
                    <a:pt x="10979" y="6179"/>
                    <a:pt x="10871" y="6179"/>
                  </a:cubicBezTo>
                  <a:lnTo>
                    <a:pt x="10752" y="6179"/>
                  </a:lnTo>
                  <a:lnTo>
                    <a:pt x="10752" y="1060"/>
                  </a:lnTo>
                  <a:lnTo>
                    <a:pt x="10836" y="1060"/>
                  </a:lnTo>
                  <a:cubicBezTo>
                    <a:pt x="10931" y="1060"/>
                    <a:pt x="11014" y="976"/>
                    <a:pt x="11014" y="881"/>
                  </a:cubicBezTo>
                  <a:lnTo>
                    <a:pt x="11014" y="179"/>
                  </a:lnTo>
                  <a:cubicBezTo>
                    <a:pt x="11014" y="83"/>
                    <a:pt x="10943" y="0"/>
                    <a:pt x="1083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294;p66"/>
            <p:cNvSpPr/>
            <p:nvPr/>
          </p:nvSpPr>
          <p:spPr>
            <a:xfrm>
              <a:off x="5784799" y="2125234"/>
              <a:ext cx="33390" cy="70503"/>
            </a:xfrm>
            <a:custGeom>
              <a:avLst/>
              <a:gdLst/>
              <a:ahLst/>
              <a:cxnLst/>
              <a:rect l="l" t="t" r="r" b="b"/>
              <a:pathLst>
                <a:path w="1049" h="2215" extrusionOk="0">
                  <a:moveTo>
                    <a:pt x="691" y="334"/>
                  </a:moveTo>
                  <a:lnTo>
                    <a:pt x="691" y="1858"/>
                  </a:lnTo>
                  <a:lnTo>
                    <a:pt x="334" y="1858"/>
                  </a:lnTo>
                  <a:lnTo>
                    <a:pt x="334" y="334"/>
                  </a:lnTo>
                  <a:close/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lnTo>
                    <a:pt x="1" y="2036"/>
                  </a:lnTo>
                  <a:cubicBezTo>
                    <a:pt x="1" y="2120"/>
                    <a:pt x="72" y="2215"/>
                    <a:pt x="179" y="2215"/>
                  </a:cubicBezTo>
                  <a:lnTo>
                    <a:pt x="870" y="2215"/>
                  </a:lnTo>
                  <a:cubicBezTo>
                    <a:pt x="965" y="2215"/>
                    <a:pt x="1049" y="2144"/>
                    <a:pt x="1049" y="2036"/>
                  </a:cubicBezTo>
                  <a:lnTo>
                    <a:pt x="1049" y="179"/>
                  </a:lnTo>
                  <a:cubicBezTo>
                    <a:pt x="1049" y="72"/>
                    <a:pt x="965" y="0"/>
                    <a:pt x="8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295;p66"/>
            <p:cNvSpPr/>
            <p:nvPr/>
          </p:nvSpPr>
          <p:spPr>
            <a:xfrm>
              <a:off x="5824236" y="2097956"/>
              <a:ext cx="33740" cy="97782"/>
            </a:xfrm>
            <a:custGeom>
              <a:avLst/>
              <a:gdLst/>
              <a:ahLst/>
              <a:cxnLst/>
              <a:rect l="l" t="t" r="r" b="b"/>
              <a:pathLst>
                <a:path w="1060" h="3072" extrusionOk="0">
                  <a:moveTo>
                    <a:pt x="703" y="345"/>
                  </a:moveTo>
                  <a:lnTo>
                    <a:pt x="703" y="2715"/>
                  </a:lnTo>
                  <a:lnTo>
                    <a:pt x="345" y="2715"/>
                  </a:lnTo>
                  <a:lnTo>
                    <a:pt x="345" y="345"/>
                  </a:lnTo>
                  <a:close/>
                  <a:moveTo>
                    <a:pt x="179" y="0"/>
                  </a:moveTo>
                  <a:cubicBezTo>
                    <a:pt x="95" y="0"/>
                    <a:pt x="0" y="84"/>
                    <a:pt x="0" y="179"/>
                  </a:cubicBezTo>
                  <a:lnTo>
                    <a:pt x="0" y="2893"/>
                  </a:lnTo>
                  <a:cubicBezTo>
                    <a:pt x="0" y="2977"/>
                    <a:pt x="83" y="3072"/>
                    <a:pt x="179" y="3072"/>
                  </a:cubicBezTo>
                  <a:lnTo>
                    <a:pt x="881" y="3072"/>
                  </a:lnTo>
                  <a:cubicBezTo>
                    <a:pt x="976" y="3072"/>
                    <a:pt x="1060" y="3001"/>
                    <a:pt x="1060" y="2893"/>
                  </a:cubicBezTo>
                  <a:lnTo>
                    <a:pt x="1060" y="179"/>
                  </a:lnTo>
                  <a:cubicBezTo>
                    <a:pt x="1048" y="84"/>
                    <a:pt x="976" y="0"/>
                    <a:pt x="88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296;p66"/>
            <p:cNvSpPr/>
            <p:nvPr/>
          </p:nvSpPr>
          <p:spPr>
            <a:xfrm>
              <a:off x="5864024" y="2111961"/>
              <a:ext cx="33740" cy="83426"/>
            </a:xfrm>
            <a:custGeom>
              <a:avLst/>
              <a:gdLst/>
              <a:ahLst/>
              <a:cxnLst/>
              <a:rect l="l" t="t" r="r" b="b"/>
              <a:pathLst>
                <a:path w="1060" h="2621" extrusionOk="0">
                  <a:moveTo>
                    <a:pt x="703" y="358"/>
                  </a:moveTo>
                  <a:lnTo>
                    <a:pt x="703" y="2275"/>
                  </a:lnTo>
                  <a:lnTo>
                    <a:pt x="346" y="2275"/>
                  </a:lnTo>
                  <a:lnTo>
                    <a:pt x="346" y="358"/>
                  </a:lnTo>
                  <a:close/>
                  <a:moveTo>
                    <a:pt x="191" y="1"/>
                  </a:moveTo>
                  <a:cubicBezTo>
                    <a:pt x="96" y="1"/>
                    <a:pt x="0" y="72"/>
                    <a:pt x="0" y="179"/>
                  </a:cubicBezTo>
                  <a:lnTo>
                    <a:pt x="0" y="2442"/>
                  </a:lnTo>
                  <a:cubicBezTo>
                    <a:pt x="0" y="2525"/>
                    <a:pt x="84" y="2620"/>
                    <a:pt x="191" y="2620"/>
                  </a:cubicBezTo>
                  <a:lnTo>
                    <a:pt x="881" y="2620"/>
                  </a:lnTo>
                  <a:cubicBezTo>
                    <a:pt x="977" y="2620"/>
                    <a:pt x="1060" y="2537"/>
                    <a:pt x="1060" y="2442"/>
                  </a:cubicBezTo>
                  <a:lnTo>
                    <a:pt x="1060" y="179"/>
                  </a:lnTo>
                  <a:cubicBezTo>
                    <a:pt x="1048" y="84"/>
                    <a:pt x="977" y="1"/>
                    <a:pt x="8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297;p66"/>
            <p:cNvSpPr/>
            <p:nvPr/>
          </p:nvSpPr>
          <p:spPr>
            <a:xfrm>
              <a:off x="5904193" y="2065744"/>
              <a:ext cx="33390" cy="129644"/>
            </a:xfrm>
            <a:custGeom>
              <a:avLst/>
              <a:gdLst/>
              <a:ahLst/>
              <a:cxnLst/>
              <a:rect l="l" t="t" r="r" b="b"/>
              <a:pathLst>
                <a:path w="1049" h="4073" extrusionOk="0">
                  <a:moveTo>
                    <a:pt x="691" y="357"/>
                  </a:moveTo>
                  <a:lnTo>
                    <a:pt x="691" y="3727"/>
                  </a:lnTo>
                  <a:lnTo>
                    <a:pt x="334" y="3727"/>
                  </a:lnTo>
                  <a:lnTo>
                    <a:pt x="334" y="357"/>
                  </a:lnTo>
                  <a:close/>
                  <a:moveTo>
                    <a:pt x="179" y="0"/>
                  </a:moveTo>
                  <a:cubicBezTo>
                    <a:pt x="72" y="24"/>
                    <a:pt x="0" y="95"/>
                    <a:pt x="0" y="179"/>
                  </a:cubicBezTo>
                  <a:lnTo>
                    <a:pt x="0" y="3894"/>
                  </a:lnTo>
                  <a:cubicBezTo>
                    <a:pt x="0" y="3977"/>
                    <a:pt x="72" y="4072"/>
                    <a:pt x="179" y="4072"/>
                  </a:cubicBezTo>
                  <a:lnTo>
                    <a:pt x="870" y="4072"/>
                  </a:lnTo>
                  <a:cubicBezTo>
                    <a:pt x="965" y="4072"/>
                    <a:pt x="1048" y="3989"/>
                    <a:pt x="1048" y="3894"/>
                  </a:cubicBezTo>
                  <a:lnTo>
                    <a:pt x="1048" y="179"/>
                  </a:lnTo>
                  <a:cubicBezTo>
                    <a:pt x="1048" y="95"/>
                    <a:pt x="977" y="0"/>
                    <a:pt x="8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298;p66"/>
            <p:cNvSpPr/>
            <p:nvPr/>
          </p:nvSpPr>
          <p:spPr>
            <a:xfrm>
              <a:off x="5713563" y="2080131"/>
              <a:ext cx="40965" cy="11395"/>
            </a:xfrm>
            <a:custGeom>
              <a:avLst/>
              <a:gdLst/>
              <a:ahLst/>
              <a:cxnLst/>
              <a:rect l="l" t="t" r="r" b="b"/>
              <a:pathLst>
                <a:path w="1287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2" y="263"/>
                    <a:pt x="96" y="358"/>
                    <a:pt x="179" y="358"/>
                  </a:cubicBezTo>
                  <a:lnTo>
                    <a:pt x="1108" y="358"/>
                  </a:lnTo>
                  <a:cubicBezTo>
                    <a:pt x="1191" y="358"/>
                    <a:pt x="1286" y="286"/>
                    <a:pt x="1286" y="179"/>
                  </a:cubicBezTo>
                  <a:cubicBezTo>
                    <a:pt x="1286" y="72"/>
                    <a:pt x="1203" y="1"/>
                    <a:pt x="11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299;p66"/>
            <p:cNvSpPr/>
            <p:nvPr/>
          </p:nvSpPr>
          <p:spPr>
            <a:xfrm>
              <a:off x="5713945" y="2097574"/>
              <a:ext cx="56880" cy="11395"/>
            </a:xfrm>
            <a:custGeom>
              <a:avLst/>
              <a:gdLst/>
              <a:ahLst/>
              <a:cxnLst/>
              <a:rect l="l" t="t" r="r" b="b"/>
              <a:pathLst>
                <a:path w="1787" h="358" extrusionOk="0">
                  <a:moveTo>
                    <a:pt x="179" y="0"/>
                  </a:moveTo>
                  <a:cubicBezTo>
                    <a:pt x="96" y="0"/>
                    <a:pt x="0" y="72"/>
                    <a:pt x="0" y="179"/>
                  </a:cubicBezTo>
                  <a:cubicBezTo>
                    <a:pt x="0" y="274"/>
                    <a:pt x="84" y="357"/>
                    <a:pt x="179" y="357"/>
                  </a:cubicBezTo>
                  <a:lnTo>
                    <a:pt x="1608" y="357"/>
                  </a:lnTo>
                  <a:cubicBezTo>
                    <a:pt x="1703" y="357"/>
                    <a:pt x="1786" y="286"/>
                    <a:pt x="1786" y="179"/>
                  </a:cubicBezTo>
                  <a:cubicBezTo>
                    <a:pt x="1774" y="72"/>
                    <a:pt x="1703" y="0"/>
                    <a:pt x="16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300;p66"/>
            <p:cNvSpPr/>
            <p:nvPr/>
          </p:nvSpPr>
          <p:spPr>
            <a:xfrm>
              <a:off x="5713945" y="2114985"/>
              <a:ext cx="56880" cy="11427"/>
            </a:xfrm>
            <a:custGeom>
              <a:avLst/>
              <a:gdLst/>
              <a:ahLst/>
              <a:cxnLst/>
              <a:rect l="l" t="t" r="r" b="b"/>
              <a:pathLst>
                <a:path w="1787" h="359" extrusionOk="0">
                  <a:moveTo>
                    <a:pt x="179" y="1"/>
                  </a:moveTo>
                  <a:cubicBezTo>
                    <a:pt x="96" y="1"/>
                    <a:pt x="0" y="84"/>
                    <a:pt x="0" y="180"/>
                  </a:cubicBezTo>
                  <a:cubicBezTo>
                    <a:pt x="0" y="275"/>
                    <a:pt x="84" y="358"/>
                    <a:pt x="179" y="358"/>
                  </a:cubicBezTo>
                  <a:lnTo>
                    <a:pt x="1608" y="358"/>
                  </a:lnTo>
                  <a:cubicBezTo>
                    <a:pt x="1703" y="358"/>
                    <a:pt x="1786" y="287"/>
                    <a:pt x="1786" y="180"/>
                  </a:cubicBezTo>
                  <a:cubicBezTo>
                    <a:pt x="1774" y="84"/>
                    <a:pt x="1703" y="1"/>
                    <a:pt x="16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301;p66"/>
            <p:cNvSpPr/>
            <p:nvPr/>
          </p:nvSpPr>
          <p:spPr>
            <a:xfrm>
              <a:off x="5713945" y="2132810"/>
              <a:ext cx="56880" cy="11013"/>
            </a:xfrm>
            <a:custGeom>
              <a:avLst/>
              <a:gdLst/>
              <a:ahLst/>
              <a:cxnLst/>
              <a:rect l="l" t="t" r="r" b="b"/>
              <a:pathLst>
                <a:path w="1787" h="346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46"/>
                    <a:pt x="179" y="346"/>
                  </a:cubicBezTo>
                  <a:lnTo>
                    <a:pt x="1608" y="346"/>
                  </a:lnTo>
                  <a:cubicBezTo>
                    <a:pt x="1703" y="346"/>
                    <a:pt x="1786" y="274"/>
                    <a:pt x="1786" y="179"/>
                  </a:cubicBezTo>
                  <a:cubicBezTo>
                    <a:pt x="1774" y="72"/>
                    <a:pt x="1703" y="1"/>
                    <a:pt x="16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302;p66"/>
            <p:cNvSpPr/>
            <p:nvPr/>
          </p:nvSpPr>
          <p:spPr>
            <a:xfrm>
              <a:off x="5663526" y="2182464"/>
              <a:ext cx="69389" cy="68625"/>
            </a:xfrm>
            <a:custGeom>
              <a:avLst/>
              <a:gdLst/>
              <a:ahLst/>
              <a:cxnLst/>
              <a:rect l="l" t="t" r="r" b="b"/>
              <a:pathLst>
                <a:path w="2180" h="2156" extrusionOk="0">
                  <a:moveTo>
                    <a:pt x="1084" y="0"/>
                  </a:moveTo>
                  <a:cubicBezTo>
                    <a:pt x="489" y="0"/>
                    <a:pt x="1" y="488"/>
                    <a:pt x="1" y="1084"/>
                  </a:cubicBezTo>
                  <a:cubicBezTo>
                    <a:pt x="1" y="1322"/>
                    <a:pt x="72" y="1548"/>
                    <a:pt x="215" y="1739"/>
                  </a:cubicBezTo>
                  <a:cubicBezTo>
                    <a:pt x="250" y="1780"/>
                    <a:pt x="300" y="1806"/>
                    <a:pt x="351" y="1806"/>
                  </a:cubicBezTo>
                  <a:cubicBezTo>
                    <a:pt x="387" y="1806"/>
                    <a:pt x="423" y="1792"/>
                    <a:pt x="453" y="1762"/>
                  </a:cubicBezTo>
                  <a:cubicBezTo>
                    <a:pt x="537" y="1715"/>
                    <a:pt x="549" y="1608"/>
                    <a:pt x="489" y="1524"/>
                  </a:cubicBezTo>
                  <a:cubicBezTo>
                    <a:pt x="382" y="1393"/>
                    <a:pt x="334" y="1250"/>
                    <a:pt x="334" y="1084"/>
                  </a:cubicBezTo>
                  <a:cubicBezTo>
                    <a:pt x="334" y="679"/>
                    <a:pt x="668" y="334"/>
                    <a:pt x="1084" y="334"/>
                  </a:cubicBezTo>
                  <a:cubicBezTo>
                    <a:pt x="1489" y="334"/>
                    <a:pt x="1823" y="667"/>
                    <a:pt x="1823" y="1084"/>
                  </a:cubicBezTo>
                  <a:cubicBezTo>
                    <a:pt x="1823" y="1334"/>
                    <a:pt x="1703" y="1560"/>
                    <a:pt x="1501" y="1691"/>
                  </a:cubicBezTo>
                  <a:cubicBezTo>
                    <a:pt x="1489" y="1691"/>
                    <a:pt x="1489" y="1715"/>
                    <a:pt x="1465" y="1715"/>
                  </a:cubicBezTo>
                  <a:lnTo>
                    <a:pt x="1453" y="1715"/>
                  </a:lnTo>
                  <a:lnTo>
                    <a:pt x="1442" y="1727"/>
                  </a:lnTo>
                  <a:lnTo>
                    <a:pt x="1430" y="1727"/>
                  </a:lnTo>
                  <a:cubicBezTo>
                    <a:pt x="1406" y="1727"/>
                    <a:pt x="1406" y="1739"/>
                    <a:pt x="1394" y="1739"/>
                  </a:cubicBezTo>
                  <a:cubicBezTo>
                    <a:pt x="1382" y="1739"/>
                    <a:pt x="1382" y="1751"/>
                    <a:pt x="1370" y="1751"/>
                  </a:cubicBezTo>
                  <a:lnTo>
                    <a:pt x="1346" y="1751"/>
                  </a:lnTo>
                  <a:cubicBezTo>
                    <a:pt x="1346" y="1751"/>
                    <a:pt x="1334" y="1751"/>
                    <a:pt x="1334" y="1774"/>
                  </a:cubicBezTo>
                  <a:lnTo>
                    <a:pt x="1322" y="1774"/>
                  </a:lnTo>
                  <a:cubicBezTo>
                    <a:pt x="1311" y="1774"/>
                    <a:pt x="1311" y="1774"/>
                    <a:pt x="1287" y="1786"/>
                  </a:cubicBezTo>
                  <a:cubicBezTo>
                    <a:pt x="1275" y="1786"/>
                    <a:pt x="1275" y="1786"/>
                    <a:pt x="1263" y="1798"/>
                  </a:cubicBezTo>
                  <a:lnTo>
                    <a:pt x="834" y="1798"/>
                  </a:lnTo>
                  <a:cubicBezTo>
                    <a:pt x="811" y="1798"/>
                    <a:pt x="811" y="1798"/>
                    <a:pt x="799" y="1786"/>
                  </a:cubicBezTo>
                  <a:cubicBezTo>
                    <a:pt x="787" y="1786"/>
                    <a:pt x="787" y="1786"/>
                    <a:pt x="775" y="1774"/>
                  </a:cubicBezTo>
                  <a:lnTo>
                    <a:pt x="751" y="1774"/>
                  </a:lnTo>
                  <a:cubicBezTo>
                    <a:pt x="732" y="1766"/>
                    <a:pt x="712" y="1762"/>
                    <a:pt x="691" y="1762"/>
                  </a:cubicBezTo>
                  <a:cubicBezTo>
                    <a:pt x="623" y="1762"/>
                    <a:pt x="555" y="1805"/>
                    <a:pt x="537" y="1870"/>
                  </a:cubicBezTo>
                  <a:cubicBezTo>
                    <a:pt x="501" y="1965"/>
                    <a:pt x="549" y="2072"/>
                    <a:pt x="632" y="2096"/>
                  </a:cubicBezTo>
                  <a:lnTo>
                    <a:pt x="656" y="2096"/>
                  </a:lnTo>
                  <a:cubicBezTo>
                    <a:pt x="668" y="2096"/>
                    <a:pt x="680" y="2108"/>
                    <a:pt x="691" y="2108"/>
                  </a:cubicBezTo>
                  <a:cubicBezTo>
                    <a:pt x="715" y="2108"/>
                    <a:pt x="727" y="2132"/>
                    <a:pt x="739" y="2132"/>
                  </a:cubicBezTo>
                  <a:lnTo>
                    <a:pt x="751" y="2132"/>
                  </a:lnTo>
                  <a:cubicBezTo>
                    <a:pt x="775" y="2132"/>
                    <a:pt x="787" y="2132"/>
                    <a:pt x="787" y="2143"/>
                  </a:cubicBezTo>
                  <a:lnTo>
                    <a:pt x="799" y="2143"/>
                  </a:lnTo>
                  <a:cubicBezTo>
                    <a:pt x="811" y="2143"/>
                    <a:pt x="834" y="2143"/>
                    <a:pt x="846" y="2155"/>
                  </a:cubicBezTo>
                  <a:lnTo>
                    <a:pt x="1156" y="2155"/>
                  </a:lnTo>
                  <a:cubicBezTo>
                    <a:pt x="1168" y="2155"/>
                    <a:pt x="1180" y="2155"/>
                    <a:pt x="1203" y="2143"/>
                  </a:cubicBezTo>
                  <a:lnTo>
                    <a:pt x="1215" y="2143"/>
                  </a:lnTo>
                  <a:cubicBezTo>
                    <a:pt x="1227" y="2143"/>
                    <a:pt x="1239" y="2143"/>
                    <a:pt x="1239" y="2132"/>
                  </a:cubicBezTo>
                  <a:lnTo>
                    <a:pt x="1263" y="2132"/>
                  </a:lnTo>
                  <a:cubicBezTo>
                    <a:pt x="1275" y="2132"/>
                    <a:pt x="1287" y="2108"/>
                    <a:pt x="1299" y="2108"/>
                  </a:cubicBezTo>
                  <a:cubicBezTo>
                    <a:pt x="1322" y="2108"/>
                    <a:pt x="1334" y="2096"/>
                    <a:pt x="1346" y="2096"/>
                  </a:cubicBezTo>
                  <a:lnTo>
                    <a:pt x="1358" y="2096"/>
                  </a:lnTo>
                  <a:cubicBezTo>
                    <a:pt x="1382" y="2096"/>
                    <a:pt x="1382" y="2084"/>
                    <a:pt x="1394" y="2084"/>
                  </a:cubicBezTo>
                  <a:lnTo>
                    <a:pt x="1406" y="2084"/>
                  </a:lnTo>
                  <a:cubicBezTo>
                    <a:pt x="1418" y="2084"/>
                    <a:pt x="1442" y="2072"/>
                    <a:pt x="1453" y="2072"/>
                  </a:cubicBezTo>
                  <a:cubicBezTo>
                    <a:pt x="1465" y="2072"/>
                    <a:pt x="1477" y="2048"/>
                    <a:pt x="1501" y="2048"/>
                  </a:cubicBezTo>
                  <a:lnTo>
                    <a:pt x="1513" y="2048"/>
                  </a:lnTo>
                  <a:cubicBezTo>
                    <a:pt x="1525" y="2048"/>
                    <a:pt x="1525" y="2036"/>
                    <a:pt x="1537" y="2036"/>
                  </a:cubicBezTo>
                  <a:lnTo>
                    <a:pt x="1561" y="2036"/>
                  </a:lnTo>
                  <a:cubicBezTo>
                    <a:pt x="1573" y="2024"/>
                    <a:pt x="1584" y="2024"/>
                    <a:pt x="1596" y="2012"/>
                  </a:cubicBezTo>
                  <a:cubicBezTo>
                    <a:pt x="1894" y="1798"/>
                    <a:pt x="2073" y="1465"/>
                    <a:pt x="2073" y="1096"/>
                  </a:cubicBezTo>
                  <a:cubicBezTo>
                    <a:pt x="2180" y="488"/>
                    <a:pt x="1692" y="0"/>
                    <a:pt x="10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5083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Achievement Strategies 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158496" y="987552"/>
            <a:ext cx="8741663" cy="3986783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600" b="1" dirty="0"/>
              <a:t>Frontend: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Next.js (v15.3.3)</a:t>
            </a:r>
            <a:r>
              <a:rPr lang="en-IN" sz="1600" dirty="0"/>
              <a:t> – React framework with App Router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React (v18.3.1)</a:t>
            </a:r>
            <a:r>
              <a:rPr lang="en-IN" sz="1600" dirty="0"/>
              <a:t> + </a:t>
            </a:r>
            <a:r>
              <a:rPr lang="en-IN" sz="1600" b="1" dirty="0"/>
              <a:t>TypeScript</a:t>
            </a:r>
            <a:r>
              <a:rPr lang="en-IN" sz="1600" dirty="0"/>
              <a:t> – Type-safe UI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Tailwind CSS</a:t>
            </a:r>
            <a:r>
              <a:rPr lang="en-IN" sz="1600" dirty="0"/>
              <a:t> + </a:t>
            </a:r>
            <a:r>
              <a:rPr lang="en-IN" sz="1600" b="1" dirty="0" err="1"/>
              <a:t>shadcn</a:t>
            </a:r>
            <a:r>
              <a:rPr lang="en-IN" sz="1600" b="1" dirty="0"/>
              <a:t>/</a:t>
            </a:r>
            <a:r>
              <a:rPr lang="en-IN" sz="1600" b="1" dirty="0" err="1"/>
              <a:t>ui</a:t>
            </a:r>
            <a:r>
              <a:rPr lang="en-IN" sz="1600" dirty="0"/>
              <a:t> – Modern styling &amp; prebuilt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Lucide</a:t>
            </a:r>
            <a:r>
              <a:rPr lang="en-IN" sz="1600" b="1" dirty="0"/>
              <a:t> React</a:t>
            </a:r>
            <a:r>
              <a:rPr lang="en-IN" sz="1600" dirty="0"/>
              <a:t> – Icon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CSS Modules</a:t>
            </a:r>
            <a:r>
              <a:rPr lang="en-IN" sz="1600" dirty="0"/>
              <a:t> – Scoped component styling</a:t>
            </a:r>
          </a:p>
          <a:p>
            <a:r>
              <a:rPr lang="en-IN" sz="1600" b="1" dirty="0"/>
              <a:t>State &amp; Forms: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React Context API</a:t>
            </a:r>
            <a:r>
              <a:rPr lang="en-IN" sz="1600" dirty="0"/>
              <a:t> – Global state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React Hook Form</a:t>
            </a:r>
            <a:r>
              <a:rPr lang="en-IN" sz="1600" dirty="0"/>
              <a:t> + </a:t>
            </a:r>
            <a:r>
              <a:rPr lang="en-IN" sz="1600" b="1" dirty="0"/>
              <a:t>Zod</a:t>
            </a:r>
            <a:r>
              <a:rPr lang="en-IN" sz="1600" dirty="0"/>
              <a:t> – Form handling &amp; validation</a:t>
            </a:r>
          </a:p>
          <a:p>
            <a:r>
              <a:rPr lang="en-IN" sz="1600" b="1" dirty="0"/>
              <a:t>Backend &amp; Database (Firebase):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Firestore</a:t>
            </a:r>
            <a:r>
              <a:rPr lang="en-IN" sz="1600" dirty="0"/>
              <a:t> – Real-time NoSQL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Firebase Auth</a:t>
            </a:r>
            <a:r>
              <a:rPr lang="en-IN" sz="1600" dirty="0"/>
              <a:t> – Secure user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Firebase Storage</a:t>
            </a:r>
            <a:r>
              <a:rPr lang="en-IN" sz="1600" dirty="0"/>
              <a:t> – File &amp; image uploads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Firebase Cloud Functions</a:t>
            </a:r>
            <a:r>
              <a:rPr lang="en-IN" sz="1600" dirty="0"/>
              <a:t> – Serverless backend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Firebase Cloud Messaging (FCM)</a:t>
            </a:r>
            <a:r>
              <a:rPr lang="en-IN" sz="1600" dirty="0"/>
              <a:t> – Push notifications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Firestore</a:t>
            </a:r>
            <a:r>
              <a:rPr lang="en-IN" sz="1600" b="1" dirty="0"/>
              <a:t> Security Rules &amp; Indexes</a:t>
            </a:r>
            <a:r>
              <a:rPr lang="en-IN" sz="1600" dirty="0"/>
              <a:t> – Data safety &amp; optimized queries</a:t>
            </a:r>
          </a:p>
          <a:p>
            <a:endParaRPr lang="en-IN" sz="1600" b="1" dirty="0">
              <a:latin typeface="Candara" pitchFamily="34" charset="0"/>
            </a:endParaRP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5535;p63"/>
          <p:cNvSpPr/>
          <p:nvPr/>
        </p:nvSpPr>
        <p:spPr>
          <a:xfrm>
            <a:off x="6001989" y="289580"/>
            <a:ext cx="562545" cy="517640"/>
          </a:xfrm>
          <a:custGeom>
            <a:avLst/>
            <a:gdLst/>
            <a:ahLst/>
            <a:cxnLst/>
            <a:rect l="l" t="t" r="r" b="b"/>
            <a:pathLst>
              <a:path w="11419" h="11443" extrusionOk="0">
                <a:moveTo>
                  <a:pt x="4644" y="3560"/>
                </a:moveTo>
                <a:lnTo>
                  <a:pt x="4727" y="3655"/>
                </a:lnTo>
                <a:lnTo>
                  <a:pt x="4132" y="4263"/>
                </a:lnTo>
                <a:cubicBezTo>
                  <a:pt x="3989" y="4084"/>
                  <a:pt x="3965" y="3834"/>
                  <a:pt x="4108" y="3655"/>
                </a:cubicBezTo>
                <a:lnTo>
                  <a:pt x="4120" y="3655"/>
                </a:lnTo>
                <a:cubicBezTo>
                  <a:pt x="4298" y="3655"/>
                  <a:pt x="4465" y="3620"/>
                  <a:pt x="4644" y="3560"/>
                </a:cubicBezTo>
                <a:close/>
                <a:moveTo>
                  <a:pt x="8751" y="5739"/>
                </a:moveTo>
                <a:lnTo>
                  <a:pt x="8918" y="5906"/>
                </a:lnTo>
                <a:cubicBezTo>
                  <a:pt x="8944" y="5932"/>
                  <a:pt x="8994" y="5951"/>
                  <a:pt x="9043" y="5951"/>
                </a:cubicBezTo>
                <a:cubicBezTo>
                  <a:pt x="9061" y="5951"/>
                  <a:pt x="9080" y="5948"/>
                  <a:pt x="9097" y="5941"/>
                </a:cubicBezTo>
                <a:cubicBezTo>
                  <a:pt x="9275" y="5894"/>
                  <a:pt x="9430" y="5858"/>
                  <a:pt x="9597" y="5846"/>
                </a:cubicBezTo>
                <a:lnTo>
                  <a:pt x="9704" y="5858"/>
                </a:lnTo>
                <a:cubicBezTo>
                  <a:pt x="10478" y="5918"/>
                  <a:pt x="11073" y="6561"/>
                  <a:pt x="11073" y="7335"/>
                </a:cubicBezTo>
                <a:cubicBezTo>
                  <a:pt x="11085" y="7454"/>
                  <a:pt x="11073" y="7585"/>
                  <a:pt x="11025" y="7716"/>
                </a:cubicBezTo>
                <a:lnTo>
                  <a:pt x="10121" y="6811"/>
                </a:lnTo>
                <a:cubicBezTo>
                  <a:pt x="10061" y="6739"/>
                  <a:pt x="9966" y="6692"/>
                  <a:pt x="9870" y="6644"/>
                </a:cubicBezTo>
                <a:cubicBezTo>
                  <a:pt x="9787" y="6620"/>
                  <a:pt x="9704" y="6608"/>
                  <a:pt x="9609" y="6608"/>
                </a:cubicBezTo>
                <a:cubicBezTo>
                  <a:pt x="9418" y="6608"/>
                  <a:pt x="9239" y="6680"/>
                  <a:pt x="9108" y="6811"/>
                </a:cubicBezTo>
                <a:cubicBezTo>
                  <a:pt x="8918" y="7001"/>
                  <a:pt x="8858" y="7299"/>
                  <a:pt x="8942" y="7573"/>
                </a:cubicBezTo>
                <a:cubicBezTo>
                  <a:pt x="8978" y="7680"/>
                  <a:pt x="9037" y="7763"/>
                  <a:pt x="9108" y="7823"/>
                </a:cubicBezTo>
                <a:lnTo>
                  <a:pt x="10013" y="8728"/>
                </a:lnTo>
                <a:cubicBezTo>
                  <a:pt x="9882" y="8775"/>
                  <a:pt x="9751" y="8787"/>
                  <a:pt x="9609" y="8787"/>
                </a:cubicBezTo>
                <a:cubicBezTo>
                  <a:pt x="8835" y="8787"/>
                  <a:pt x="8204" y="8180"/>
                  <a:pt x="8156" y="7418"/>
                </a:cubicBezTo>
                <a:lnTo>
                  <a:pt x="8144" y="7323"/>
                </a:lnTo>
                <a:cubicBezTo>
                  <a:pt x="8144" y="7156"/>
                  <a:pt x="8168" y="6977"/>
                  <a:pt x="8227" y="6811"/>
                </a:cubicBezTo>
                <a:cubicBezTo>
                  <a:pt x="8263" y="6751"/>
                  <a:pt x="8239" y="6680"/>
                  <a:pt x="8180" y="6632"/>
                </a:cubicBezTo>
                <a:lnTo>
                  <a:pt x="8025" y="6465"/>
                </a:lnTo>
                <a:lnTo>
                  <a:pt x="8751" y="5739"/>
                </a:lnTo>
                <a:close/>
                <a:moveTo>
                  <a:pt x="2393" y="6537"/>
                </a:moveTo>
                <a:lnTo>
                  <a:pt x="2751" y="6894"/>
                </a:lnTo>
                <a:lnTo>
                  <a:pt x="4632" y="8775"/>
                </a:lnTo>
                <a:lnTo>
                  <a:pt x="4894" y="9037"/>
                </a:lnTo>
                <a:lnTo>
                  <a:pt x="4358" y="9573"/>
                </a:lnTo>
                <a:lnTo>
                  <a:pt x="1858" y="7084"/>
                </a:lnTo>
                <a:lnTo>
                  <a:pt x="2393" y="6537"/>
                </a:lnTo>
                <a:close/>
                <a:moveTo>
                  <a:pt x="4155" y="0"/>
                </a:moveTo>
                <a:cubicBezTo>
                  <a:pt x="3882" y="0"/>
                  <a:pt x="3632" y="60"/>
                  <a:pt x="3382" y="179"/>
                </a:cubicBezTo>
                <a:cubicBezTo>
                  <a:pt x="3334" y="203"/>
                  <a:pt x="3286" y="250"/>
                  <a:pt x="3286" y="298"/>
                </a:cubicBezTo>
                <a:cubicBezTo>
                  <a:pt x="3274" y="357"/>
                  <a:pt x="3298" y="393"/>
                  <a:pt x="3334" y="441"/>
                </a:cubicBezTo>
                <a:lnTo>
                  <a:pt x="4417" y="1524"/>
                </a:lnTo>
                <a:cubicBezTo>
                  <a:pt x="4453" y="1560"/>
                  <a:pt x="4477" y="1608"/>
                  <a:pt x="4513" y="1667"/>
                </a:cubicBezTo>
                <a:cubicBezTo>
                  <a:pt x="4548" y="1810"/>
                  <a:pt x="4525" y="1965"/>
                  <a:pt x="4417" y="2060"/>
                </a:cubicBezTo>
                <a:cubicBezTo>
                  <a:pt x="4346" y="2143"/>
                  <a:pt x="4251" y="2167"/>
                  <a:pt x="4155" y="2167"/>
                </a:cubicBezTo>
                <a:cubicBezTo>
                  <a:pt x="4108" y="2167"/>
                  <a:pt x="4060" y="2155"/>
                  <a:pt x="4013" y="2143"/>
                </a:cubicBezTo>
                <a:cubicBezTo>
                  <a:pt x="3953" y="2108"/>
                  <a:pt x="3917" y="2096"/>
                  <a:pt x="3882" y="2048"/>
                </a:cubicBezTo>
                <a:lnTo>
                  <a:pt x="2798" y="965"/>
                </a:lnTo>
                <a:cubicBezTo>
                  <a:pt x="2762" y="928"/>
                  <a:pt x="2725" y="913"/>
                  <a:pt x="2684" y="913"/>
                </a:cubicBezTo>
                <a:cubicBezTo>
                  <a:pt x="2671" y="913"/>
                  <a:pt x="2657" y="914"/>
                  <a:pt x="2643" y="917"/>
                </a:cubicBezTo>
                <a:cubicBezTo>
                  <a:pt x="2584" y="929"/>
                  <a:pt x="2548" y="965"/>
                  <a:pt x="2524" y="1012"/>
                </a:cubicBezTo>
                <a:cubicBezTo>
                  <a:pt x="2405" y="1262"/>
                  <a:pt x="2346" y="1512"/>
                  <a:pt x="2346" y="1786"/>
                </a:cubicBezTo>
                <a:cubicBezTo>
                  <a:pt x="2346" y="2239"/>
                  <a:pt x="2524" y="2679"/>
                  <a:pt x="2846" y="3013"/>
                </a:cubicBezTo>
                <a:cubicBezTo>
                  <a:pt x="3096" y="3286"/>
                  <a:pt x="3417" y="3465"/>
                  <a:pt x="3798" y="3548"/>
                </a:cubicBezTo>
                <a:cubicBezTo>
                  <a:pt x="3655" y="3846"/>
                  <a:pt x="3715" y="4203"/>
                  <a:pt x="3941" y="4465"/>
                </a:cubicBezTo>
                <a:lnTo>
                  <a:pt x="3560" y="4846"/>
                </a:lnTo>
                <a:cubicBezTo>
                  <a:pt x="3405" y="5001"/>
                  <a:pt x="3334" y="5191"/>
                  <a:pt x="3334" y="5394"/>
                </a:cubicBezTo>
                <a:cubicBezTo>
                  <a:pt x="3334" y="5596"/>
                  <a:pt x="3405" y="5775"/>
                  <a:pt x="3524" y="5906"/>
                </a:cubicBezTo>
                <a:lnTo>
                  <a:pt x="2917" y="6513"/>
                </a:lnTo>
                <a:lnTo>
                  <a:pt x="2560" y="6156"/>
                </a:lnTo>
                <a:cubicBezTo>
                  <a:pt x="2530" y="6126"/>
                  <a:pt x="2486" y="6111"/>
                  <a:pt x="2441" y="6111"/>
                </a:cubicBezTo>
                <a:cubicBezTo>
                  <a:pt x="2396" y="6111"/>
                  <a:pt x="2352" y="6126"/>
                  <a:pt x="2322" y="6156"/>
                </a:cubicBezTo>
                <a:lnTo>
                  <a:pt x="1417" y="7061"/>
                </a:lnTo>
                <a:lnTo>
                  <a:pt x="60" y="8418"/>
                </a:lnTo>
                <a:cubicBezTo>
                  <a:pt x="0" y="8478"/>
                  <a:pt x="0" y="8597"/>
                  <a:pt x="60" y="8656"/>
                </a:cubicBezTo>
                <a:lnTo>
                  <a:pt x="1096" y="9704"/>
                </a:lnTo>
                <a:cubicBezTo>
                  <a:pt x="1125" y="9734"/>
                  <a:pt x="1170" y="9748"/>
                  <a:pt x="1215" y="9748"/>
                </a:cubicBezTo>
                <a:cubicBezTo>
                  <a:pt x="1259" y="9748"/>
                  <a:pt x="1304" y="9734"/>
                  <a:pt x="1334" y="9704"/>
                </a:cubicBezTo>
                <a:cubicBezTo>
                  <a:pt x="1393" y="9644"/>
                  <a:pt x="1393" y="9525"/>
                  <a:pt x="1334" y="9466"/>
                </a:cubicBezTo>
                <a:lnTo>
                  <a:pt x="417" y="8537"/>
                </a:lnTo>
                <a:lnTo>
                  <a:pt x="1667" y="7287"/>
                </a:lnTo>
                <a:lnTo>
                  <a:pt x="4167" y="9787"/>
                </a:lnTo>
                <a:lnTo>
                  <a:pt x="2917" y="11037"/>
                </a:lnTo>
                <a:lnTo>
                  <a:pt x="1810" y="9942"/>
                </a:lnTo>
                <a:cubicBezTo>
                  <a:pt x="1780" y="9912"/>
                  <a:pt x="1736" y="9897"/>
                  <a:pt x="1691" y="9897"/>
                </a:cubicBezTo>
                <a:cubicBezTo>
                  <a:pt x="1646" y="9897"/>
                  <a:pt x="1602" y="9912"/>
                  <a:pt x="1572" y="9942"/>
                </a:cubicBezTo>
                <a:cubicBezTo>
                  <a:pt x="1512" y="10002"/>
                  <a:pt x="1512" y="10121"/>
                  <a:pt x="1572" y="10180"/>
                </a:cubicBezTo>
                <a:lnTo>
                  <a:pt x="2798" y="11395"/>
                </a:lnTo>
                <a:cubicBezTo>
                  <a:pt x="2822" y="11430"/>
                  <a:pt x="2870" y="11442"/>
                  <a:pt x="2917" y="11442"/>
                </a:cubicBezTo>
                <a:cubicBezTo>
                  <a:pt x="2965" y="11442"/>
                  <a:pt x="3001" y="11430"/>
                  <a:pt x="3036" y="11395"/>
                </a:cubicBezTo>
                <a:lnTo>
                  <a:pt x="4394" y="10037"/>
                </a:lnTo>
                <a:lnTo>
                  <a:pt x="5298" y="9132"/>
                </a:lnTo>
                <a:cubicBezTo>
                  <a:pt x="5322" y="9109"/>
                  <a:pt x="5346" y="9061"/>
                  <a:pt x="5346" y="9013"/>
                </a:cubicBezTo>
                <a:cubicBezTo>
                  <a:pt x="5346" y="8966"/>
                  <a:pt x="5322" y="8930"/>
                  <a:pt x="5298" y="8894"/>
                </a:cubicBezTo>
                <a:lnTo>
                  <a:pt x="5025" y="8632"/>
                </a:lnTo>
                <a:lnTo>
                  <a:pt x="5644" y="8013"/>
                </a:lnTo>
                <a:cubicBezTo>
                  <a:pt x="5770" y="8094"/>
                  <a:pt x="5916" y="8135"/>
                  <a:pt x="6062" y="8135"/>
                </a:cubicBezTo>
                <a:cubicBezTo>
                  <a:pt x="6217" y="8135"/>
                  <a:pt x="6372" y="8088"/>
                  <a:pt x="6501" y="7989"/>
                </a:cubicBezTo>
                <a:cubicBezTo>
                  <a:pt x="6572" y="7930"/>
                  <a:pt x="6596" y="7823"/>
                  <a:pt x="6537" y="7751"/>
                </a:cubicBezTo>
                <a:cubicBezTo>
                  <a:pt x="6500" y="7708"/>
                  <a:pt x="6446" y="7682"/>
                  <a:pt x="6393" y="7682"/>
                </a:cubicBezTo>
                <a:cubicBezTo>
                  <a:pt x="6360" y="7682"/>
                  <a:pt x="6326" y="7692"/>
                  <a:pt x="6299" y="7716"/>
                </a:cubicBezTo>
                <a:cubicBezTo>
                  <a:pt x="6220" y="7778"/>
                  <a:pt x="6131" y="7806"/>
                  <a:pt x="6041" y="7806"/>
                </a:cubicBezTo>
                <a:cubicBezTo>
                  <a:pt x="5927" y="7806"/>
                  <a:pt x="5814" y="7760"/>
                  <a:pt x="5727" y="7680"/>
                </a:cubicBezTo>
                <a:cubicBezTo>
                  <a:pt x="5703" y="7644"/>
                  <a:pt x="5656" y="7632"/>
                  <a:pt x="5608" y="7632"/>
                </a:cubicBezTo>
                <a:cubicBezTo>
                  <a:pt x="5560" y="7632"/>
                  <a:pt x="5525" y="7644"/>
                  <a:pt x="5489" y="7680"/>
                </a:cubicBezTo>
                <a:lnTo>
                  <a:pt x="4763" y="8406"/>
                </a:lnTo>
                <a:lnTo>
                  <a:pt x="3108" y="6799"/>
                </a:lnTo>
                <a:lnTo>
                  <a:pt x="3834" y="6072"/>
                </a:lnTo>
                <a:cubicBezTo>
                  <a:pt x="3894" y="6013"/>
                  <a:pt x="3894" y="5894"/>
                  <a:pt x="3834" y="5834"/>
                </a:cubicBezTo>
                <a:lnTo>
                  <a:pt x="3751" y="5739"/>
                </a:lnTo>
                <a:cubicBezTo>
                  <a:pt x="3655" y="5644"/>
                  <a:pt x="3620" y="5549"/>
                  <a:pt x="3620" y="5430"/>
                </a:cubicBezTo>
                <a:cubicBezTo>
                  <a:pt x="3620" y="5310"/>
                  <a:pt x="3655" y="5203"/>
                  <a:pt x="3751" y="5108"/>
                </a:cubicBezTo>
                <a:lnTo>
                  <a:pt x="4251" y="4608"/>
                </a:lnTo>
                <a:lnTo>
                  <a:pt x="5096" y="3763"/>
                </a:lnTo>
                <a:lnTo>
                  <a:pt x="6013" y="2846"/>
                </a:lnTo>
                <a:cubicBezTo>
                  <a:pt x="6025" y="2834"/>
                  <a:pt x="6037" y="2822"/>
                  <a:pt x="6049" y="2822"/>
                </a:cubicBezTo>
                <a:cubicBezTo>
                  <a:pt x="6106" y="2780"/>
                  <a:pt x="6170" y="2761"/>
                  <a:pt x="6233" y="2761"/>
                </a:cubicBezTo>
                <a:cubicBezTo>
                  <a:pt x="6314" y="2761"/>
                  <a:pt x="6393" y="2792"/>
                  <a:pt x="6453" y="2846"/>
                </a:cubicBezTo>
                <a:lnTo>
                  <a:pt x="6477" y="2870"/>
                </a:lnTo>
                <a:cubicBezTo>
                  <a:pt x="6572" y="2965"/>
                  <a:pt x="6596" y="3132"/>
                  <a:pt x="6501" y="3263"/>
                </a:cubicBezTo>
                <a:cubicBezTo>
                  <a:pt x="6489" y="3286"/>
                  <a:pt x="6477" y="3298"/>
                  <a:pt x="6477" y="3310"/>
                </a:cubicBezTo>
                <a:lnTo>
                  <a:pt x="5477" y="4310"/>
                </a:lnTo>
                <a:cubicBezTo>
                  <a:pt x="5418" y="4370"/>
                  <a:pt x="5418" y="4489"/>
                  <a:pt x="5477" y="4548"/>
                </a:cubicBezTo>
                <a:cubicBezTo>
                  <a:pt x="5501" y="4584"/>
                  <a:pt x="5549" y="4596"/>
                  <a:pt x="5596" y="4596"/>
                </a:cubicBezTo>
                <a:cubicBezTo>
                  <a:pt x="5644" y="4596"/>
                  <a:pt x="5679" y="4572"/>
                  <a:pt x="5715" y="4548"/>
                </a:cubicBezTo>
                <a:lnTo>
                  <a:pt x="6715" y="3548"/>
                </a:lnTo>
                <a:cubicBezTo>
                  <a:pt x="6727" y="3536"/>
                  <a:pt x="6739" y="3525"/>
                  <a:pt x="6751" y="3525"/>
                </a:cubicBezTo>
                <a:cubicBezTo>
                  <a:pt x="6805" y="3481"/>
                  <a:pt x="6872" y="3460"/>
                  <a:pt x="6939" y="3460"/>
                </a:cubicBezTo>
                <a:cubicBezTo>
                  <a:pt x="7018" y="3460"/>
                  <a:pt x="7098" y="3490"/>
                  <a:pt x="7156" y="3548"/>
                </a:cubicBezTo>
                <a:lnTo>
                  <a:pt x="7168" y="3560"/>
                </a:lnTo>
                <a:cubicBezTo>
                  <a:pt x="7275" y="3667"/>
                  <a:pt x="7287" y="3834"/>
                  <a:pt x="7203" y="3965"/>
                </a:cubicBezTo>
                <a:cubicBezTo>
                  <a:pt x="7192" y="3989"/>
                  <a:pt x="7192" y="4001"/>
                  <a:pt x="7168" y="4013"/>
                </a:cubicBezTo>
                <a:lnTo>
                  <a:pt x="6180" y="5013"/>
                </a:lnTo>
                <a:cubicBezTo>
                  <a:pt x="6120" y="5072"/>
                  <a:pt x="6120" y="5191"/>
                  <a:pt x="6180" y="5251"/>
                </a:cubicBezTo>
                <a:cubicBezTo>
                  <a:pt x="6203" y="5275"/>
                  <a:pt x="6251" y="5299"/>
                  <a:pt x="6299" y="5299"/>
                </a:cubicBezTo>
                <a:cubicBezTo>
                  <a:pt x="6334" y="5299"/>
                  <a:pt x="6382" y="5275"/>
                  <a:pt x="6418" y="5251"/>
                </a:cubicBezTo>
                <a:lnTo>
                  <a:pt x="7406" y="4251"/>
                </a:lnTo>
                <a:cubicBezTo>
                  <a:pt x="7430" y="4239"/>
                  <a:pt x="7442" y="4215"/>
                  <a:pt x="7454" y="4215"/>
                </a:cubicBezTo>
                <a:cubicBezTo>
                  <a:pt x="7506" y="4179"/>
                  <a:pt x="7569" y="4160"/>
                  <a:pt x="7633" y="4160"/>
                </a:cubicBezTo>
                <a:cubicBezTo>
                  <a:pt x="7715" y="4160"/>
                  <a:pt x="7798" y="4191"/>
                  <a:pt x="7858" y="4251"/>
                </a:cubicBezTo>
                <a:lnTo>
                  <a:pt x="7870" y="4263"/>
                </a:lnTo>
                <a:cubicBezTo>
                  <a:pt x="7977" y="4370"/>
                  <a:pt x="7989" y="4537"/>
                  <a:pt x="7906" y="4668"/>
                </a:cubicBezTo>
                <a:cubicBezTo>
                  <a:pt x="7882" y="4679"/>
                  <a:pt x="7882" y="4703"/>
                  <a:pt x="7870" y="4715"/>
                </a:cubicBezTo>
                <a:lnTo>
                  <a:pt x="6870" y="5715"/>
                </a:lnTo>
                <a:cubicBezTo>
                  <a:pt x="6811" y="5775"/>
                  <a:pt x="6811" y="5894"/>
                  <a:pt x="6870" y="5953"/>
                </a:cubicBezTo>
                <a:cubicBezTo>
                  <a:pt x="6906" y="5977"/>
                  <a:pt x="6953" y="5989"/>
                  <a:pt x="6989" y="5989"/>
                </a:cubicBezTo>
                <a:cubicBezTo>
                  <a:pt x="7037" y="5989"/>
                  <a:pt x="7084" y="5977"/>
                  <a:pt x="7108" y="5953"/>
                </a:cubicBezTo>
                <a:lnTo>
                  <a:pt x="8108" y="4953"/>
                </a:lnTo>
                <a:cubicBezTo>
                  <a:pt x="8120" y="4941"/>
                  <a:pt x="8144" y="4918"/>
                  <a:pt x="8156" y="4918"/>
                </a:cubicBezTo>
                <a:cubicBezTo>
                  <a:pt x="8208" y="4881"/>
                  <a:pt x="8272" y="4863"/>
                  <a:pt x="8335" y="4863"/>
                </a:cubicBezTo>
                <a:cubicBezTo>
                  <a:pt x="8418" y="4863"/>
                  <a:pt x="8501" y="4893"/>
                  <a:pt x="8561" y="4953"/>
                </a:cubicBezTo>
                <a:lnTo>
                  <a:pt x="8573" y="4965"/>
                </a:lnTo>
                <a:cubicBezTo>
                  <a:pt x="8680" y="5072"/>
                  <a:pt x="8692" y="5239"/>
                  <a:pt x="8597" y="5370"/>
                </a:cubicBezTo>
                <a:cubicBezTo>
                  <a:pt x="8585" y="5382"/>
                  <a:pt x="8573" y="5394"/>
                  <a:pt x="8573" y="5418"/>
                </a:cubicBezTo>
                <a:lnTo>
                  <a:pt x="6715" y="7275"/>
                </a:lnTo>
                <a:cubicBezTo>
                  <a:pt x="6656" y="7335"/>
                  <a:pt x="6656" y="7454"/>
                  <a:pt x="6715" y="7513"/>
                </a:cubicBezTo>
                <a:cubicBezTo>
                  <a:pt x="6739" y="7537"/>
                  <a:pt x="6787" y="7561"/>
                  <a:pt x="6834" y="7561"/>
                </a:cubicBezTo>
                <a:cubicBezTo>
                  <a:pt x="6870" y="7561"/>
                  <a:pt x="6918" y="7537"/>
                  <a:pt x="6953" y="7513"/>
                </a:cubicBezTo>
                <a:lnTo>
                  <a:pt x="7787" y="6680"/>
                </a:lnTo>
                <a:lnTo>
                  <a:pt x="7870" y="6763"/>
                </a:lnTo>
                <a:cubicBezTo>
                  <a:pt x="7811" y="6942"/>
                  <a:pt x="7787" y="7120"/>
                  <a:pt x="7787" y="7287"/>
                </a:cubicBezTo>
                <a:lnTo>
                  <a:pt x="7787" y="7299"/>
                </a:lnTo>
                <a:lnTo>
                  <a:pt x="7799" y="7406"/>
                </a:lnTo>
                <a:cubicBezTo>
                  <a:pt x="7823" y="7870"/>
                  <a:pt x="8037" y="8287"/>
                  <a:pt x="8358" y="8597"/>
                </a:cubicBezTo>
                <a:cubicBezTo>
                  <a:pt x="8692" y="8906"/>
                  <a:pt x="9132" y="9085"/>
                  <a:pt x="9597" y="9085"/>
                </a:cubicBezTo>
                <a:cubicBezTo>
                  <a:pt x="9870" y="9085"/>
                  <a:pt x="10121" y="9025"/>
                  <a:pt x="10371" y="8906"/>
                </a:cubicBezTo>
                <a:cubicBezTo>
                  <a:pt x="10418" y="8882"/>
                  <a:pt x="10466" y="8835"/>
                  <a:pt x="10466" y="8787"/>
                </a:cubicBezTo>
                <a:cubicBezTo>
                  <a:pt x="10478" y="8728"/>
                  <a:pt x="10442" y="8692"/>
                  <a:pt x="10418" y="8644"/>
                </a:cubicBezTo>
                <a:lnTo>
                  <a:pt x="9335" y="7537"/>
                </a:lnTo>
                <a:cubicBezTo>
                  <a:pt x="9287" y="7501"/>
                  <a:pt x="9251" y="7454"/>
                  <a:pt x="9251" y="7406"/>
                </a:cubicBezTo>
                <a:cubicBezTo>
                  <a:pt x="9192" y="7263"/>
                  <a:pt x="9239" y="7108"/>
                  <a:pt x="9347" y="7001"/>
                </a:cubicBezTo>
                <a:cubicBezTo>
                  <a:pt x="9418" y="6930"/>
                  <a:pt x="9513" y="6882"/>
                  <a:pt x="9609" y="6882"/>
                </a:cubicBezTo>
                <a:cubicBezTo>
                  <a:pt x="9656" y="6882"/>
                  <a:pt x="9704" y="6906"/>
                  <a:pt x="9751" y="6918"/>
                </a:cubicBezTo>
                <a:cubicBezTo>
                  <a:pt x="9811" y="6942"/>
                  <a:pt x="9847" y="6965"/>
                  <a:pt x="9882" y="7001"/>
                </a:cubicBezTo>
                <a:lnTo>
                  <a:pt x="10966" y="8097"/>
                </a:lnTo>
                <a:cubicBezTo>
                  <a:pt x="11000" y="8122"/>
                  <a:pt x="11034" y="8142"/>
                  <a:pt x="11073" y="8142"/>
                </a:cubicBezTo>
                <a:cubicBezTo>
                  <a:pt x="11088" y="8142"/>
                  <a:pt x="11104" y="8139"/>
                  <a:pt x="11121" y="8132"/>
                </a:cubicBezTo>
                <a:cubicBezTo>
                  <a:pt x="11180" y="8120"/>
                  <a:pt x="11216" y="8097"/>
                  <a:pt x="11240" y="8049"/>
                </a:cubicBezTo>
                <a:cubicBezTo>
                  <a:pt x="11359" y="7799"/>
                  <a:pt x="11418" y="7537"/>
                  <a:pt x="11418" y="7275"/>
                </a:cubicBezTo>
                <a:cubicBezTo>
                  <a:pt x="11418" y="6858"/>
                  <a:pt x="11252" y="6430"/>
                  <a:pt x="10918" y="6084"/>
                </a:cubicBezTo>
                <a:cubicBezTo>
                  <a:pt x="10609" y="5751"/>
                  <a:pt x="10180" y="5549"/>
                  <a:pt x="9728" y="5513"/>
                </a:cubicBezTo>
                <a:lnTo>
                  <a:pt x="9632" y="5501"/>
                </a:lnTo>
                <a:lnTo>
                  <a:pt x="9609" y="5501"/>
                </a:lnTo>
                <a:cubicBezTo>
                  <a:pt x="9454" y="5501"/>
                  <a:pt x="9275" y="5537"/>
                  <a:pt x="9097" y="5596"/>
                </a:cubicBezTo>
                <a:lnTo>
                  <a:pt x="8954" y="5453"/>
                </a:lnTo>
                <a:cubicBezTo>
                  <a:pt x="9049" y="5215"/>
                  <a:pt x="9001" y="4953"/>
                  <a:pt x="8811" y="4763"/>
                </a:cubicBezTo>
                <a:lnTo>
                  <a:pt x="8799" y="4739"/>
                </a:lnTo>
                <a:cubicBezTo>
                  <a:pt x="8656" y="4608"/>
                  <a:pt x="8477" y="4548"/>
                  <a:pt x="8299" y="4548"/>
                </a:cubicBezTo>
                <a:cubicBezTo>
                  <a:pt x="8323" y="4370"/>
                  <a:pt x="8239" y="4191"/>
                  <a:pt x="8108" y="4060"/>
                </a:cubicBezTo>
                <a:lnTo>
                  <a:pt x="8096" y="4048"/>
                </a:lnTo>
                <a:cubicBezTo>
                  <a:pt x="7965" y="3906"/>
                  <a:pt x="7775" y="3846"/>
                  <a:pt x="7596" y="3846"/>
                </a:cubicBezTo>
                <a:cubicBezTo>
                  <a:pt x="7620" y="3667"/>
                  <a:pt x="7537" y="3489"/>
                  <a:pt x="7406" y="3358"/>
                </a:cubicBezTo>
                <a:lnTo>
                  <a:pt x="7394" y="3346"/>
                </a:lnTo>
                <a:cubicBezTo>
                  <a:pt x="7263" y="3215"/>
                  <a:pt x="7084" y="3155"/>
                  <a:pt x="6906" y="3155"/>
                </a:cubicBezTo>
                <a:cubicBezTo>
                  <a:pt x="6918" y="2977"/>
                  <a:pt x="6846" y="2798"/>
                  <a:pt x="6703" y="2655"/>
                </a:cubicBezTo>
                <a:lnTo>
                  <a:pt x="6692" y="2643"/>
                </a:lnTo>
                <a:cubicBezTo>
                  <a:pt x="6565" y="2516"/>
                  <a:pt x="6400" y="2453"/>
                  <a:pt x="6235" y="2453"/>
                </a:cubicBezTo>
                <a:cubicBezTo>
                  <a:pt x="6152" y="2453"/>
                  <a:pt x="6068" y="2469"/>
                  <a:pt x="5989" y="2501"/>
                </a:cubicBezTo>
                <a:lnTo>
                  <a:pt x="5858" y="2358"/>
                </a:lnTo>
                <a:cubicBezTo>
                  <a:pt x="5918" y="2179"/>
                  <a:pt x="5953" y="2001"/>
                  <a:pt x="5953" y="1846"/>
                </a:cubicBezTo>
                <a:lnTo>
                  <a:pt x="5953" y="1822"/>
                </a:lnTo>
                <a:lnTo>
                  <a:pt x="5930" y="1727"/>
                </a:lnTo>
                <a:cubicBezTo>
                  <a:pt x="5918" y="1465"/>
                  <a:pt x="5846" y="1215"/>
                  <a:pt x="5727" y="988"/>
                </a:cubicBezTo>
                <a:cubicBezTo>
                  <a:pt x="5693" y="937"/>
                  <a:pt x="5628" y="898"/>
                  <a:pt x="5567" y="898"/>
                </a:cubicBezTo>
                <a:cubicBezTo>
                  <a:pt x="5544" y="898"/>
                  <a:pt x="5521" y="904"/>
                  <a:pt x="5501" y="917"/>
                </a:cubicBezTo>
                <a:cubicBezTo>
                  <a:pt x="5429" y="965"/>
                  <a:pt x="5382" y="1072"/>
                  <a:pt x="5429" y="1143"/>
                </a:cubicBezTo>
                <a:cubicBezTo>
                  <a:pt x="5537" y="1334"/>
                  <a:pt x="5596" y="1524"/>
                  <a:pt x="5608" y="1739"/>
                </a:cubicBezTo>
                <a:lnTo>
                  <a:pt x="5620" y="1846"/>
                </a:lnTo>
                <a:cubicBezTo>
                  <a:pt x="5620" y="2001"/>
                  <a:pt x="5596" y="2167"/>
                  <a:pt x="5513" y="2346"/>
                </a:cubicBezTo>
                <a:cubicBezTo>
                  <a:pt x="5489" y="2405"/>
                  <a:pt x="5513" y="2477"/>
                  <a:pt x="5560" y="2524"/>
                </a:cubicBezTo>
                <a:lnTo>
                  <a:pt x="5727" y="2691"/>
                </a:lnTo>
                <a:lnTo>
                  <a:pt x="5001" y="3417"/>
                </a:lnTo>
                <a:lnTo>
                  <a:pt x="4834" y="3251"/>
                </a:lnTo>
                <a:cubicBezTo>
                  <a:pt x="4800" y="3225"/>
                  <a:pt x="4753" y="3205"/>
                  <a:pt x="4707" y="3205"/>
                </a:cubicBezTo>
                <a:cubicBezTo>
                  <a:pt x="4690" y="3205"/>
                  <a:pt x="4672" y="3208"/>
                  <a:pt x="4656" y="3215"/>
                </a:cubicBezTo>
                <a:cubicBezTo>
                  <a:pt x="4477" y="3274"/>
                  <a:pt x="4310" y="3298"/>
                  <a:pt x="4155" y="3298"/>
                </a:cubicBezTo>
                <a:lnTo>
                  <a:pt x="4048" y="3286"/>
                </a:lnTo>
                <a:cubicBezTo>
                  <a:pt x="3274" y="3227"/>
                  <a:pt x="2679" y="2584"/>
                  <a:pt x="2679" y="1822"/>
                </a:cubicBezTo>
                <a:cubicBezTo>
                  <a:pt x="2679" y="1691"/>
                  <a:pt x="2691" y="1560"/>
                  <a:pt x="2739" y="1429"/>
                </a:cubicBezTo>
                <a:lnTo>
                  <a:pt x="3644" y="2334"/>
                </a:lnTo>
                <a:cubicBezTo>
                  <a:pt x="3703" y="2405"/>
                  <a:pt x="3798" y="2453"/>
                  <a:pt x="3894" y="2501"/>
                </a:cubicBezTo>
                <a:cubicBezTo>
                  <a:pt x="3989" y="2524"/>
                  <a:pt x="4060" y="2536"/>
                  <a:pt x="4155" y="2536"/>
                </a:cubicBezTo>
                <a:cubicBezTo>
                  <a:pt x="4346" y="2536"/>
                  <a:pt x="4525" y="2465"/>
                  <a:pt x="4656" y="2334"/>
                </a:cubicBezTo>
                <a:cubicBezTo>
                  <a:pt x="4846" y="2143"/>
                  <a:pt x="4929" y="1846"/>
                  <a:pt x="4822" y="1572"/>
                </a:cubicBezTo>
                <a:lnTo>
                  <a:pt x="4822" y="1560"/>
                </a:lnTo>
                <a:cubicBezTo>
                  <a:pt x="4787" y="1489"/>
                  <a:pt x="4751" y="1393"/>
                  <a:pt x="4656" y="1310"/>
                </a:cubicBezTo>
                <a:lnTo>
                  <a:pt x="3751" y="393"/>
                </a:lnTo>
                <a:cubicBezTo>
                  <a:pt x="3882" y="357"/>
                  <a:pt x="4013" y="334"/>
                  <a:pt x="4144" y="334"/>
                </a:cubicBezTo>
                <a:cubicBezTo>
                  <a:pt x="4489" y="334"/>
                  <a:pt x="4798" y="441"/>
                  <a:pt x="5060" y="655"/>
                </a:cubicBezTo>
                <a:cubicBezTo>
                  <a:pt x="5088" y="678"/>
                  <a:pt x="5121" y="689"/>
                  <a:pt x="5155" y="689"/>
                </a:cubicBezTo>
                <a:cubicBezTo>
                  <a:pt x="5208" y="689"/>
                  <a:pt x="5262" y="663"/>
                  <a:pt x="5298" y="619"/>
                </a:cubicBezTo>
                <a:cubicBezTo>
                  <a:pt x="5358" y="548"/>
                  <a:pt x="5346" y="441"/>
                  <a:pt x="5263" y="381"/>
                </a:cubicBezTo>
                <a:cubicBezTo>
                  <a:pt x="4941" y="131"/>
                  <a:pt x="4548" y="0"/>
                  <a:pt x="4155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774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Security Measures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286064" y="1226397"/>
            <a:ext cx="7625751" cy="376089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000" b="1" dirty="0"/>
              <a:t>Core Security: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Firebase Auth</a:t>
            </a:r>
            <a:r>
              <a:rPr lang="en-IN" sz="2000" dirty="0"/>
              <a:t> – Secure login via Email/Google OAuth with JWT tokens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Role-Based Access Control</a:t>
            </a:r>
            <a:r>
              <a:rPr lang="en-IN" sz="2000" dirty="0"/>
              <a:t> – Roles for Student, Society Admin, and Super Admin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/>
              <a:t>Firestore</a:t>
            </a:r>
            <a:r>
              <a:rPr lang="en-IN" sz="2000" b="1" dirty="0"/>
              <a:t> Security Rules</a:t>
            </a:r>
            <a:r>
              <a:rPr lang="en-IN" sz="2000" dirty="0"/>
              <a:t> – Enforces database-level permissions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HTTPS Only</a:t>
            </a:r>
            <a:r>
              <a:rPr lang="en-IN" sz="2000" dirty="0"/>
              <a:t> – All data transmission fully encrypted</a:t>
            </a:r>
          </a:p>
          <a:p>
            <a:r>
              <a:rPr lang="en-IN" sz="2000" b="1" dirty="0"/>
              <a:t>Data Protection: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Input Validation</a:t>
            </a:r>
            <a:r>
              <a:rPr lang="en-IN" sz="2000" dirty="0"/>
              <a:t> – Zod schemas ensure valid and safe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XSS Prevention</a:t>
            </a:r>
            <a:r>
              <a:rPr lang="en-IN" sz="2000" dirty="0"/>
              <a:t> – Protected by </a:t>
            </a:r>
            <a:r>
              <a:rPr lang="en-IN" sz="2000" dirty="0" err="1"/>
              <a:t>React’s</a:t>
            </a:r>
            <a:r>
              <a:rPr lang="en-IN" sz="2000" dirty="0"/>
              <a:t> built-in sanitization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Secure File Uploads</a:t>
            </a:r>
            <a:r>
              <a:rPr lang="en-IN" sz="2000" dirty="0"/>
              <a:t> – Type and size validation for media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Environment Variables</a:t>
            </a:r>
            <a:r>
              <a:rPr lang="en-IN" sz="2000" dirty="0"/>
              <a:t> – Sensitive credentials securely managed</a:t>
            </a:r>
          </a:p>
          <a:p>
            <a:endParaRPr lang="en-US" sz="2000" dirty="0"/>
          </a:p>
          <a:p>
            <a:endParaRPr lang="en-US" sz="2000" dirty="0">
              <a:latin typeface="+mn-lt"/>
            </a:endParaRP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475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BB5A2-A7FA-01EF-D39D-92C13A5C5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93ED-5469-DA3E-A348-7ACE65AC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Quality Attributes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ED55D7-32BF-EF73-B00D-A6D7C06FF9F5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8AC6804-0B11-E7F1-61BA-08C8514ECA42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/>
              <a:t>Usability:</a:t>
            </a:r>
            <a:r>
              <a:rPr lang="en-US" sz="2000" dirty="0"/>
              <a:t> Simple and intuitive UI for easy navigation.</a:t>
            </a:r>
          </a:p>
          <a:p>
            <a:r>
              <a:rPr lang="en-US" sz="2000" b="1" dirty="0"/>
              <a:t>Scalability:</a:t>
            </a:r>
            <a:r>
              <a:rPr lang="en-US" sz="2000" dirty="0"/>
              <a:t> Designed to expand from single-campus to multi-institution support.</a:t>
            </a:r>
          </a:p>
          <a:p>
            <a:r>
              <a:rPr lang="en-US" sz="2000" b="1" dirty="0"/>
              <a:t>Security:</a:t>
            </a:r>
            <a:r>
              <a:rPr lang="en-US" sz="2000" dirty="0"/>
              <a:t> OAuth authentication and encrypted communication.</a:t>
            </a:r>
          </a:p>
          <a:p>
            <a:r>
              <a:rPr lang="en-US" sz="2000" b="1" dirty="0"/>
              <a:t>Maintainability:</a:t>
            </a:r>
            <a:r>
              <a:rPr lang="en-US" sz="2000" dirty="0"/>
              <a:t> Modular code structure and REST-based architecture.</a:t>
            </a:r>
          </a:p>
          <a:p>
            <a:r>
              <a:rPr lang="en-US" sz="2000" b="1" dirty="0"/>
              <a:t>Performance:</a:t>
            </a:r>
            <a:r>
              <a:rPr lang="en-US" sz="2000" dirty="0"/>
              <a:t> Optimized queries and caching for fast event retrieval.</a:t>
            </a:r>
          </a:p>
          <a:p>
            <a:endParaRPr lang="en-US" sz="2000" dirty="0">
              <a:latin typeface="+mn-lt"/>
            </a:endParaRP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08664370-C913-86E3-F269-4B64BD97F9E5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E2CB92A4-27F4-C8B0-6AE0-A007222D1FE6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806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Conclusion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Uniconnect</a:t>
            </a:r>
            <a:r>
              <a:rPr lang="en-US" sz="2000" dirty="0"/>
              <a:t> centralizes all college events on one smart platform for students and societies.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Eliminates scattered communication and manual registration processes.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Provides </a:t>
            </a:r>
            <a:r>
              <a:rPr lang="en-US" sz="2000" b="1" dirty="0"/>
              <a:t>secure, college-verified access</a:t>
            </a:r>
            <a:r>
              <a:rPr lang="en-US" sz="2000" dirty="0"/>
              <a:t> and </a:t>
            </a:r>
            <a:r>
              <a:rPr lang="en-US" sz="2000" b="1" dirty="0"/>
              <a:t>real-time analytics</a:t>
            </a:r>
            <a:r>
              <a:rPr lang="en-US" sz="2000" dirty="0"/>
              <a:t> for better engagement.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Built on a </a:t>
            </a:r>
            <a:r>
              <a:rPr lang="en-US" sz="2000" b="1" dirty="0"/>
              <a:t>modern, scalable architecture</a:t>
            </a:r>
            <a:r>
              <a:rPr lang="en-US" sz="2000" dirty="0"/>
              <a:t> ensuring transparency and ease of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Future upgrades like </a:t>
            </a:r>
            <a:r>
              <a:rPr lang="en-US" sz="2000" b="1" dirty="0"/>
              <a:t>AI recommendations</a:t>
            </a:r>
            <a:r>
              <a:rPr lang="en-US" sz="2000" dirty="0"/>
              <a:t>, </a:t>
            </a:r>
            <a:r>
              <a:rPr lang="en-US" sz="2000" b="1" dirty="0"/>
              <a:t>conflict detection</a:t>
            </a:r>
            <a:r>
              <a:rPr lang="en-US" sz="2000" dirty="0"/>
              <a:t>, and </a:t>
            </a:r>
            <a:r>
              <a:rPr lang="en-US" sz="2000" b="1" dirty="0"/>
              <a:t>smart attendance</a:t>
            </a:r>
            <a:r>
              <a:rPr lang="en-US" sz="2000" dirty="0"/>
              <a:t> will make it the </a:t>
            </a:r>
            <a:r>
              <a:rPr lang="en-US" sz="2000" b="1" dirty="0"/>
              <a:t>complete digital ecosystem</a:t>
            </a:r>
            <a:r>
              <a:rPr lang="en-US" sz="2000" dirty="0"/>
              <a:t> for campus life.</a:t>
            </a:r>
          </a:p>
          <a:p>
            <a:endParaRPr lang="en-US" sz="2000" b="1" dirty="0">
              <a:latin typeface="Montserrat" pitchFamily="2" charset="0"/>
            </a:endParaRP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7809998"/>
      </p:ext>
    </p:extLst>
  </p:cSld>
  <p:clrMapOvr>
    <a:masterClrMapping/>
  </p:clrMapOvr>
</p:sld>
</file>

<file path=ppt/theme/theme1.xml><?xml version="1.0" encoding="utf-8"?>
<a:theme xmlns:a="http://schemas.openxmlformats.org/drawingml/2006/main" name="Engineering Project Proposal by Slidesgo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387771"/>
      </a:accent1>
      <a:accent2>
        <a:srgbClr val="212121"/>
      </a:accent2>
      <a:accent3>
        <a:srgbClr val="9ECFCB"/>
      </a:accent3>
      <a:accent4>
        <a:srgbClr val="289C91"/>
      </a:accent4>
      <a:accent5>
        <a:srgbClr val="619792"/>
      </a:accent5>
      <a:accent6>
        <a:srgbClr val="384C4B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869</Words>
  <Application>Microsoft Office PowerPoint</Application>
  <PresentationFormat>On-screen Show (16:9)</PresentationFormat>
  <Paragraphs>104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Candara</vt:lpstr>
      <vt:lpstr>Catamaran Light</vt:lpstr>
      <vt:lpstr>Livvic</vt:lpstr>
      <vt:lpstr>Montserrat</vt:lpstr>
      <vt:lpstr>Montserrat SemiBold</vt:lpstr>
      <vt:lpstr>Engineering Project Proposal by Slidesgo</vt:lpstr>
      <vt:lpstr>UCS503 UNICONNECT</vt:lpstr>
      <vt:lpstr> Introduction</vt:lpstr>
      <vt:lpstr>Project Scope</vt:lpstr>
      <vt:lpstr>Proposed Functions</vt:lpstr>
      <vt:lpstr>Proposed Functions</vt:lpstr>
      <vt:lpstr>Proposed Functions</vt:lpstr>
      <vt:lpstr>Target Users</vt:lpstr>
      <vt:lpstr>                       System Features    </vt:lpstr>
      <vt:lpstr>              Achievement Strategies </vt:lpstr>
      <vt:lpstr>Security Measures</vt:lpstr>
      <vt:lpstr>Quality Attributes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UCS503 Project Name Team Name</dc:title>
  <dc:creator>Ananya .</dc:creator>
  <cp:lastModifiedBy>Sarvagya Srivastava</cp:lastModifiedBy>
  <cp:revision>12</cp:revision>
  <dcterms:modified xsi:type="dcterms:W3CDTF">2025-10-10T07:57:04Z</dcterms:modified>
</cp:coreProperties>
</file>